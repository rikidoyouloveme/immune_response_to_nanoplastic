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8" r:id="rId9"/>
    <p:sldId id="263" r:id="rId10"/>
    <p:sldId id="264" r:id="rId11"/>
    <p:sldId id="265" r:id="rId12"/>
    <p:sldId id="271" r:id="rId13"/>
    <p:sldId id="266" r:id="rId14"/>
    <p:sldId id="267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8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2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308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913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06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674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928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072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2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305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556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72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263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458435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290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713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0950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6735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154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16F0995-0C05-4986-985E-B69DA728B55D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1FDFD28-C1BD-4153-AC8F-ADA10E4E82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8815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zenodo.org/records/15866724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44AE-0924-45E4-A1C5-D1680EDE1E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b="0" i="0" dirty="0">
                <a:effectLst/>
                <a:latin typeface="Arial" panose="020B0604020202020204" pitchFamily="34" charset="0"/>
              </a:rPr>
              <a:t>Single-Cell Analysis of Immune Response to </a:t>
            </a:r>
            <a:r>
              <a:rPr lang="en-US" b="0" i="0" dirty="0" err="1">
                <a:effectLst/>
                <a:latin typeface="Arial" panose="020B0604020202020204" pitchFamily="34" charset="0"/>
              </a:rPr>
              <a:t>Nanoplastic</a:t>
            </a:r>
            <a:r>
              <a:rPr lang="en-US" b="0" i="0" dirty="0">
                <a:effectLst/>
                <a:latin typeface="Arial" panose="020B0604020202020204" pitchFamily="34" charset="0"/>
              </a:rPr>
              <a:t> Particles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594943-F4DD-48B0-B69C-EEA8E61DB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56934" y="5380038"/>
            <a:ext cx="9144000" cy="1655762"/>
          </a:xfrm>
        </p:spPr>
        <p:txBody>
          <a:bodyPr/>
          <a:lstStyle/>
          <a:p>
            <a:pPr algn="r"/>
            <a:r>
              <a:rPr lang="en-US" dirty="0"/>
              <a:t>Danilo </a:t>
            </a:r>
            <a:r>
              <a:rPr lang="en-US" dirty="0" err="1"/>
              <a:t>Risti</a:t>
            </a:r>
            <a:r>
              <a:rPr lang="sr-Latn-RS" dirty="0"/>
              <a:t>ć</a:t>
            </a:r>
            <a:br>
              <a:rPr lang="sr-Latn-RS" dirty="0"/>
            </a:br>
            <a:r>
              <a:rPr lang="sr-Latn-RS" dirty="0"/>
              <a:t>2024/3244</a:t>
            </a:r>
          </a:p>
        </p:txBody>
      </p:sp>
    </p:spTree>
    <p:extLst>
      <p:ext uri="{BB962C8B-B14F-4D97-AF65-F5344CB8AC3E}">
        <p14:creationId xmlns:p14="http://schemas.microsoft.com/office/powerpoint/2010/main" val="2344929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D2CF4-302A-41B1-8CF0-283DB3CF4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Task propositions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E7A26-6E0A-4954-86A8-CBA2AE0FB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00" y="1580051"/>
            <a:ext cx="11324167" cy="4998550"/>
          </a:xfrm>
        </p:spPr>
        <p:txBody>
          <a:bodyPr>
            <a:normAutofit fontScale="47500" lnSpcReduction="20000"/>
          </a:bodyPr>
          <a:lstStyle/>
          <a:p>
            <a:pPr marL="36900" indent="0">
              <a:buNone/>
            </a:pPr>
            <a:r>
              <a:rPr lang="en-US" sz="2300" b="1" dirty="0">
                <a:solidFill>
                  <a:srgbClr val="79C0F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Single-Cell Analysis of Immune Response to </a:t>
            </a:r>
            <a:r>
              <a:rPr lang="en-US" sz="2300" b="1" dirty="0" err="1">
                <a:solidFill>
                  <a:srgbClr val="79C0F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Nanoplastic</a:t>
            </a:r>
            <a:r>
              <a:rPr lang="en-US" sz="2300" b="1" dirty="0">
                <a:solidFill>
                  <a:srgbClr val="79C0F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Particles</a:t>
            </a:r>
            <a:br>
              <a:rPr lang="en-US" sz="2300" b="1" dirty="0">
                <a:solidFill>
                  <a:srgbClr val="79C0F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Nanoplastics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that enter the bloodstream interact directly with immune cells, and particle size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appears to shape the response. </a:t>
            </a:r>
            <a:b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ou will use single-cell RNA sequencing (</a:t>
            </a:r>
            <a:r>
              <a:rPr lang="en-US" sz="20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scRNA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-seq) to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investigate how </a:t>
            </a:r>
            <a:r>
              <a:rPr lang="en-US" sz="20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nanoplastics</a:t>
            </a:r>
            <a:r>
              <a:rPr lang="en-US" sz="20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of different sizes affect human peripheral blood immune cells</a:t>
            </a:r>
            <a:endParaRPr lang="en-US" sz="2300" b="0" dirty="0">
              <a:solidFill>
                <a:srgbClr val="BBBEBF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900" indent="0">
              <a:buNone/>
            </a:pPr>
            <a:b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79C0F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Dataset Description</a:t>
            </a:r>
            <a:endParaRPr lang="en-US" b="0" dirty="0">
              <a:solidFill>
                <a:srgbClr val="BBBEBF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900" indent="0">
              <a:buNone/>
            </a:pPr>
            <a:b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Source:</a:t>
            </a: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0" dirty="0" err="1">
                <a:solidFill>
                  <a:srgbClr val="A5D6F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Zenodo</a:t>
            </a:r>
            <a:r>
              <a:rPr lang="en-US" b="0" dirty="0">
                <a:solidFill>
                  <a:srgbClr val="A5D6F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0" u="sng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https://zenodo.org/records/15866724</a:t>
            </a: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DOI:10.5281/zenodo.15866724</a:t>
            </a:r>
          </a:p>
          <a:p>
            <a:pPr marL="36900" indent="0">
              <a:buNone/>
            </a:pPr>
            <a:b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Samples:</a:t>
            </a:r>
            <a:endParaRPr lang="en-US" b="0" dirty="0">
              <a:solidFill>
                <a:srgbClr val="BBBEBF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900" indent="0">
              <a:buNone/>
            </a:pPr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Sample 1:</a:t>
            </a: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40 nm </a:t>
            </a:r>
            <a:r>
              <a:rPr lang="en-US" b="0" dirty="0" err="1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carboxylated</a:t>
            </a: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polystyrene nanoparticles (PSNPs)</a:t>
            </a:r>
          </a:p>
          <a:p>
            <a:pPr marL="36900" indent="0">
              <a:buNone/>
            </a:pPr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Sample 2:</a:t>
            </a: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200 nm PSNPs</a:t>
            </a:r>
          </a:p>
          <a:p>
            <a:pPr marL="36900" indent="0">
              <a:buNone/>
            </a:pPr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Sample 3:</a:t>
            </a: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40 nm + 200 nm mixture</a:t>
            </a:r>
          </a:p>
          <a:p>
            <a:pPr marL="36900" indent="0">
              <a:buNone/>
            </a:pPr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Sample 4:</a:t>
            </a: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Control (no exposure)</a:t>
            </a:r>
          </a:p>
          <a:p>
            <a:pPr marL="36900" indent="0">
              <a:buNone/>
            </a:pPr>
            <a:b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79C0F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Analysis Workflow</a:t>
            </a:r>
            <a:endParaRPr lang="en-US" b="0" dirty="0">
              <a:solidFill>
                <a:srgbClr val="BBBEBF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0" i="0" dirty="0">
                <a:effectLst/>
                <a:latin typeface="Arial" panose="020B0604020202020204" pitchFamily="34" charset="0"/>
              </a:rPr>
              <a:t>QC &amp; preprocessing — filter cells, </a:t>
            </a:r>
            <a:r>
              <a:rPr lang="en-US" b="0" i="0" dirty="0" err="1">
                <a:effectLst/>
                <a:latin typeface="Arial" panose="020B0604020202020204" pitchFamily="34" charset="0"/>
              </a:rPr>
              <a:t>normalise</a:t>
            </a:r>
            <a:r>
              <a:rPr lang="en-US" b="0" i="0" dirty="0">
                <a:effectLst/>
                <a:latin typeface="Arial" panose="020B0604020202020204" pitchFamily="34" charset="0"/>
              </a:rPr>
              <a:t>, select variable genes. Justify thresholds.</a:t>
            </a:r>
          </a:p>
          <a:p>
            <a:r>
              <a:rPr lang="en-US" b="0" i="0" dirty="0">
                <a:effectLst/>
                <a:latin typeface="Arial" panose="020B0604020202020204" pitchFamily="34" charset="0"/>
              </a:rPr>
              <a:t>Integration &amp; clustering - combine all four samples with a batch-correction method of</a:t>
            </a:r>
            <a:br>
              <a:rPr lang="en-US" dirty="0"/>
            </a:br>
            <a:r>
              <a:rPr lang="en-US" b="0" i="0" dirty="0">
                <a:effectLst/>
                <a:latin typeface="Arial" panose="020B0604020202020204" pitchFamily="34" charset="0"/>
              </a:rPr>
              <a:t>your choice; compute UMAP and clusters.</a:t>
            </a:r>
          </a:p>
          <a:p>
            <a:r>
              <a:rPr lang="en-US" b="0" i="0" dirty="0">
                <a:effectLst/>
                <a:latin typeface="Arial" panose="020B0604020202020204" pitchFamily="34" charset="0"/>
              </a:rPr>
              <a:t>Cell type annotation - assign immune cell types (T, B, NK, monocytes, etc.) using</a:t>
            </a:r>
            <a:br>
              <a:rPr lang="en-US" dirty="0"/>
            </a:br>
            <a:r>
              <a:rPr lang="en-US" b="0" i="0" dirty="0">
                <a:effectLst/>
                <a:latin typeface="Arial" panose="020B0604020202020204" pitchFamily="34" charset="0"/>
              </a:rPr>
              <a:t>marker genes and the Azimuth PBMC reference (RDS) dataset.</a:t>
            </a:r>
          </a:p>
          <a:p>
            <a:r>
              <a:rPr lang="en-US" b="0" i="0" dirty="0">
                <a:effectLst/>
                <a:latin typeface="Arial" panose="020B0604020202020204" pitchFamily="34" charset="0"/>
              </a:rPr>
              <a:t>Composition analysis - compare cell type proportions across the four samples.</a:t>
            </a:r>
          </a:p>
          <a:p>
            <a:r>
              <a:rPr lang="en-US" b="0" i="0" dirty="0">
                <a:effectLst/>
                <a:latin typeface="Arial" panose="020B0604020202020204" pitchFamily="34" charset="0"/>
              </a:rPr>
              <a:t>Differential expression - for each major cell type, compare each exposed sample</a:t>
            </a:r>
            <a:br>
              <a:rPr lang="en-US" dirty="0"/>
            </a:br>
            <a:r>
              <a:rPr lang="en-US" b="0" i="0" dirty="0">
                <a:effectLst/>
                <a:latin typeface="Arial" panose="020B0604020202020204" pitchFamily="34" charset="0"/>
              </a:rPr>
              <a:t>against the control; run pathway enrichment (GO/</a:t>
            </a:r>
            <a:r>
              <a:rPr lang="en-US" b="0" i="0" dirty="0" err="1">
                <a:effectLst/>
                <a:latin typeface="Arial" panose="020B0604020202020204" pitchFamily="34" charset="0"/>
              </a:rPr>
              <a:t>Reactome</a:t>
            </a:r>
            <a:r>
              <a:rPr lang="en-US" b="0" i="0" dirty="0">
                <a:effectLst/>
                <a:latin typeface="Arial" panose="020B0604020202020204" pitchFamily="34" charset="0"/>
              </a:rPr>
              <a:t>/KEGG).</a:t>
            </a:r>
          </a:p>
          <a:p>
            <a:r>
              <a:rPr lang="en-US" b="0" i="0" dirty="0">
                <a:effectLst/>
                <a:latin typeface="Arial" panose="020B0604020202020204" pitchFamily="34" charset="0"/>
              </a:rPr>
              <a:t>Size-specific effects - identify responses that are unique to 40 nm, unique to 200 nm,</a:t>
            </a:r>
            <a:br>
              <a:rPr lang="en-US" dirty="0"/>
            </a:br>
            <a:r>
              <a:rPr lang="en-US" b="0" i="0" dirty="0">
                <a:effectLst/>
                <a:latin typeface="Arial" panose="020B0604020202020204" pitchFamily="34" charset="0"/>
              </a:rPr>
              <a:t>shared, or emerge only in the mixture. Interpret biologically</a:t>
            </a:r>
            <a:endParaRPr lang="en-US" b="0" dirty="0">
              <a:solidFill>
                <a:srgbClr val="BBBEBF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8373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dirty="0">
                <a:solidFill>
                  <a:srgbClr val="C9D1D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QC &amp; Preprocessing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950ED9-4B70-4257-9E39-89D550411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50" y="1368383"/>
            <a:ext cx="4612708" cy="49247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6795772-91E9-46DE-96F1-00C66AB0B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214" y="1368383"/>
            <a:ext cx="3678440" cy="49247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EFCC739-4014-47EB-843A-CE2859EE158B}"/>
              </a:ext>
            </a:extLst>
          </p:cNvPr>
          <p:cNvSpPr txBox="1"/>
          <p:nvPr/>
        </p:nvSpPr>
        <p:spPr>
          <a:xfrm>
            <a:off x="8500654" y="2358983"/>
            <a:ext cx="387496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Cell filtering criteria:</a:t>
            </a:r>
            <a:endParaRPr lang="en-US" dirty="0">
              <a:solidFill>
                <a:srgbClr val="BBBEB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Minimum counts: 200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Minimum genes: 200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Maximum genes: 5000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Maximum mitochondrial: 10%</a:t>
            </a:r>
          </a:p>
          <a:p>
            <a:b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Gene filtering:</a:t>
            </a:r>
            <a:endParaRPr lang="en-US" dirty="0">
              <a:solidFill>
                <a:srgbClr val="BBBEB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Minimum cells: </a:t>
            </a:r>
            <a:r>
              <a:rPr lang="en-US" dirty="0">
                <a:solidFill>
                  <a:srgbClr val="BBBEB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US" b="0" dirty="0">
              <a:solidFill>
                <a:srgbClr val="BBBEBF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4628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Integration &amp; clustering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5BF620-CFFD-4DD3-BE3B-AEB09272D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96" y="1218360"/>
            <a:ext cx="4305024" cy="230832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DBEC44B-E976-4859-BABC-3D4277BAE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7371" y="1218359"/>
            <a:ext cx="6659096" cy="23083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A7E5EA6-1638-4475-82CB-2AEAD80AF9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2653" y="3779875"/>
            <a:ext cx="3316827" cy="267081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B97E16-301F-4F30-A819-3B5B59D43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625" y="3779875"/>
            <a:ext cx="3567518" cy="2670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4038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Integration &amp; clustering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080E8A5-F9D2-451A-B266-C28F2C403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09" y="1218360"/>
            <a:ext cx="6046232" cy="518759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850B66B-F54D-4017-B528-5B9030E84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764" y="1218360"/>
            <a:ext cx="4973040" cy="518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424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Cell type annotation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54A53B-33A7-49AC-8902-18B299DEAFE7}"/>
              </a:ext>
            </a:extLst>
          </p:cNvPr>
          <p:cNvSpPr txBox="1"/>
          <p:nvPr/>
        </p:nvSpPr>
        <p:spPr>
          <a:xfrm>
            <a:off x="5963785" y="1109135"/>
            <a:ext cx="6096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Common immune cell markers:</a:t>
            </a:r>
            <a:endParaRPr lang="en-US" sz="1400" b="0" dirty="0">
              <a:solidFill>
                <a:srgbClr val="BBBEBF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 cells</a:t>
            </a:r>
            <a:r>
              <a:rPr lang="en-US" sz="1400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CD3D, CD3E, CD3G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 cells</a:t>
            </a:r>
            <a:r>
              <a:rPr lang="en-US" sz="1400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CD79A, CD79B, MS4A1 (CD20)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NK cells</a:t>
            </a:r>
            <a:r>
              <a:rPr lang="en-US" sz="1400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NKG7, GNLY, KLRD1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Monocytes/Macrophages</a:t>
            </a:r>
            <a:r>
              <a:rPr lang="en-US" sz="1400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CD14, CD68, LYZ, FCGR3A (CD16)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Dendritic cells</a:t>
            </a:r>
            <a:r>
              <a:rPr lang="en-US" sz="1400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CD1C, FCER1A, CLEC9A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Neutrophils</a:t>
            </a:r>
            <a:r>
              <a:rPr lang="en-US" sz="1400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S100A8, S100A9, CSF3R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Plasma cells</a:t>
            </a:r>
            <a:r>
              <a:rPr lang="en-US" sz="1400" b="0" dirty="0">
                <a:solidFill>
                  <a:srgbClr val="BBBEBF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IGHA1, IGHG1, MZB1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1989139-767D-4C66-ACA5-9333F7F06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11" y="1075822"/>
            <a:ext cx="5458514" cy="553426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9FFE76-6751-4BB6-A531-9D3D49F44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012875"/>
            <a:ext cx="5219097" cy="359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698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Cell type annotation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F9A869-BBCC-4697-9937-7CC29E64714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4583"/>
          <a:stretch/>
        </p:blipFill>
        <p:spPr>
          <a:xfrm>
            <a:off x="347134" y="1450726"/>
            <a:ext cx="6153532" cy="49465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3D2171-B3DD-412E-B2BB-536B91B0E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4922" y="1450726"/>
            <a:ext cx="4911904" cy="4946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601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Cell type annotation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F46665-B101-492C-9E0B-09DFB623FF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347"/>
          <a:stretch/>
        </p:blipFill>
        <p:spPr>
          <a:xfrm>
            <a:off x="299207" y="1371732"/>
            <a:ext cx="11593585" cy="5105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28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Composition Analysis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7C8632-E343-4E17-A619-8C97DDB94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720" y="2495858"/>
            <a:ext cx="9778560" cy="41142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EF9E39-A90C-425D-B431-E943E0268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150" y="1138417"/>
            <a:ext cx="11107700" cy="12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191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Composition Analysis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32E03-8EC1-4323-8C51-272ED3301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09" y="1218360"/>
            <a:ext cx="5184947" cy="44314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1CB1EA-F4FD-4BF1-8F06-6737219D98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578" y="1788712"/>
            <a:ext cx="6632313" cy="328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053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Differential Expression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DEB6D8-01E2-4126-BE93-2444E8AA0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099" y="1149927"/>
            <a:ext cx="9067801" cy="24353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2BE24D-AEE7-4645-B154-404F7DC4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0451" y="3649132"/>
            <a:ext cx="6411096" cy="309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728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Differential Expression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4640BD-AFB5-40E6-AF35-E47D6BCF6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214" y="1091360"/>
            <a:ext cx="6719571" cy="5639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40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Size-Specific Effects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171BB1-C980-42CA-95C8-3072E5308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0" y="1120664"/>
            <a:ext cx="5612382" cy="52267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60BA441-6928-4646-9B4D-12E630AE0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8" y="1256880"/>
            <a:ext cx="6219697" cy="4344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166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Size-Specific Effects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5735D8-C19B-4716-B320-37D5BB436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75" y="1258488"/>
            <a:ext cx="5265619" cy="52723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41F3FA0-C4E6-4EFC-8CA3-A2D68A0985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21" y="1066800"/>
            <a:ext cx="5367683" cy="5672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52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678C-62C0-4F3E-9CB7-0924FA6B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7910"/>
            <a:ext cx="10353762" cy="970450"/>
          </a:xfrm>
        </p:spPr>
        <p:txBody>
          <a:bodyPr/>
          <a:lstStyle/>
          <a:p>
            <a:r>
              <a:rPr lang="en-US" b="1" dirty="0">
                <a:solidFill>
                  <a:srgbClr val="C9D1D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Size-Specific Effects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95179-B4B4-45FF-AFA5-BAB57F15CB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000"/>
          <a:stretch/>
        </p:blipFill>
        <p:spPr>
          <a:xfrm>
            <a:off x="528849" y="1218360"/>
            <a:ext cx="5223422" cy="53009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527A97-1B8E-40AE-8A93-CAAD1FDEC46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0000"/>
          <a:stretch/>
        </p:blipFill>
        <p:spPr>
          <a:xfrm>
            <a:off x="6350001" y="1218360"/>
            <a:ext cx="5223420" cy="530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0591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E8B826"/>
      </a:accent1>
      <a:accent2>
        <a:srgbClr val="E2CA72"/>
      </a:accent2>
      <a:accent3>
        <a:srgbClr val="BD723B"/>
      </a:accent3>
      <a:accent4>
        <a:srgbClr val="AE9376"/>
      </a:accent4>
      <a:accent5>
        <a:srgbClr val="A77F41"/>
      </a:accent5>
      <a:accent6>
        <a:srgbClr val="A1AE79"/>
      </a:accent6>
      <a:hlink>
        <a:srgbClr val="F1D06A"/>
      </a:hlink>
      <a:folHlink>
        <a:srgbClr val="EDDCA8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D5CBAF11-69B7-47EA-BC01-41F77058C2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1166</TotalTime>
  <Words>401</Words>
  <Application>Microsoft Office PowerPoint</Application>
  <PresentationFormat>Widescreen</PresentationFormat>
  <Paragraphs>46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Calisto MT</vt:lpstr>
      <vt:lpstr>Wingdings 2</vt:lpstr>
      <vt:lpstr>Slate</vt:lpstr>
      <vt:lpstr>Single-Cell Analysis of Immune Response to Nanoplastic Particles </vt:lpstr>
      <vt:lpstr>Task propositions</vt:lpstr>
      <vt:lpstr>QC &amp; Preprocessing</vt:lpstr>
      <vt:lpstr>Integration &amp; clustering</vt:lpstr>
      <vt:lpstr>Integration &amp; clustering</vt:lpstr>
      <vt:lpstr>Cell type annotation</vt:lpstr>
      <vt:lpstr>Cell type annotation</vt:lpstr>
      <vt:lpstr>Cell type annotation</vt:lpstr>
      <vt:lpstr>Composition Analysis</vt:lpstr>
      <vt:lpstr>Composition Analysis</vt:lpstr>
      <vt:lpstr>Differential Expression</vt:lpstr>
      <vt:lpstr>Differential Expression</vt:lpstr>
      <vt:lpstr>Size-Specific Effects</vt:lpstr>
      <vt:lpstr>Size-Specific Effects</vt:lpstr>
      <vt:lpstr>Size-Specific Effects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Single-Cell Analysis of Immune Response to Nanoplastic Particles</dc:title>
  <dc:creator>danilo ristic</dc:creator>
  <cp:lastModifiedBy>danilo ristic</cp:lastModifiedBy>
  <cp:revision>17</cp:revision>
  <dcterms:created xsi:type="dcterms:W3CDTF">2026-08-30T08:43:05Z</dcterms:created>
  <dcterms:modified xsi:type="dcterms:W3CDTF">2026-09-01T13:20:49Z</dcterms:modified>
</cp:coreProperties>
</file>