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sldIdLst>
    <p:sldId id="256" r:id="rId2"/>
    <p:sldId id="257" r:id="rId3"/>
    <p:sldId id="258" r:id="rId4"/>
    <p:sldId id="273" r:id="rId5"/>
    <p:sldId id="259" r:id="rId6"/>
    <p:sldId id="260" r:id="rId7"/>
    <p:sldId id="261" r:id="rId8"/>
    <p:sldId id="269" r:id="rId9"/>
    <p:sldId id="268" r:id="rId10"/>
    <p:sldId id="263" r:id="rId11"/>
    <p:sldId id="264" r:id="rId12"/>
    <p:sldId id="265" r:id="rId13"/>
    <p:sldId id="271" r:id="rId14"/>
    <p:sldId id="266" r:id="rId15"/>
    <p:sldId id="267" r:id="rId16"/>
    <p:sldId id="274" r:id="rId17"/>
    <p:sldId id="270" r:id="rId18"/>
    <p:sldId id="275"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786" autoAdjust="0"/>
    <p:restoredTop sz="94660"/>
  </p:normalViewPr>
  <p:slideViewPr>
    <p:cSldViewPr snapToGrid="0">
      <p:cViewPr>
        <p:scale>
          <a:sx n="100" d="100"/>
          <a:sy n="100" d="100"/>
        </p:scale>
        <p:origin x="1002" y="3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16F0995-0C05-4986-985E-B69DA728B55D}"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FDFD28-C1BD-4153-AC8F-ADA10E4E8206}" type="slidenum">
              <a:rPr lang="en-US" smtClean="0"/>
              <a:t>‹#›</a:t>
            </a:fld>
            <a:endParaRPr lang="en-US"/>
          </a:p>
        </p:txBody>
      </p:sp>
    </p:spTree>
    <p:extLst>
      <p:ext uri="{BB962C8B-B14F-4D97-AF65-F5344CB8AC3E}">
        <p14:creationId xmlns:p14="http://schemas.microsoft.com/office/powerpoint/2010/main" val="17073088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6F0995-0C05-4986-985E-B69DA728B55D}"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FDFD28-C1BD-4153-AC8F-ADA10E4E8206}" type="slidenum">
              <a:rPr lang="en-US" smtClean="0"/>
              <a:t>‹#›</a:t>
            </a:fld>
            <a:endParaRPr lang="en-US"/>
          </a:p>
        </p:txBody>
      </p:sp>
    </p:spTree>
    <p:extLst>
      <p:ext uri="{BB962C8B-B14F-4D97-AF65-F5344CB8AC3E}">
        <p14:creationId xmlns:p14="http://schemas.microsoft.com/office/powerpoint/2010/main" val="7739138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6F0995-0C05-4986-985E-B69DA728B55D}"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FDFD28-C1BD-4153-AC8F-ADA10E4E8206}" type="slidenum">
              <a:rPr lang="en-US" smtClean="0"/>
              <a:t>‹#›</a:t>
            </a:fld>
            <a:endParaRPr lang="en-US"/>
          </a:p>
        </p:txBody>
      </p:sp>
    </p:spTree>
    <p:extLst>
      <p:ext uri="{BB962C8B-B14F-4D97-AF65-F5344CB8AC3E}">
        <p14:creationId xmlns:p14="http://schemas.microsoft.com/office/powerpoint/2010/main" val="13715062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16F0995-0C05-4986-985E-B69DA728B55D}" type="datetimeFigureOut">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FDFD28-C1BD-4153-AC8F-ADA10E4E8206}" type="slidenum">
              <a:rPr lang="en-US" smtClean="0"/>
              <a:t>‹#›</a:t>
            </a:fld>
            <a:endParaRPr lang="en-US"/>
          </a:p>
        </p:txBody>
      </p:sp>
    </p:spTree>
    <p:extLst>
      <p:ext uri="{BB962C8B-B14F-4D97-AF65-F5344CB8AC3E}">
        <p14:creationId xmlns:p14="http://schemas.microsoft.com/office/powerpoint/2010/main" val="1427674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16F0995-0C05-4986-985E-B69DA728B55D}" type="datetimeFigureOut">
              <a:rPr lang="en-US" smtClean="0"/>
              <a:t>9/1/2026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1FDFD28-C1BD-4153-AC8F-ADA10E4E8206}" type="slidenum">
              <a:rPr lang="en-US" smtClean="0"/>
              <a:t>‹#›</a:t>
            </a:fld>
            <a:endParaRPr lang="en-US"/>
          </a:p>
        </p:txBody>
      </p:sp>
    </p:spTree>
    <p:extLst>
      <p:ext uri="{BB962C8B-B14F-4D97-AF65-F5344CB8AC3E}">
        <p14:creationId xmlns:p14="http://schemas.microsoft.com/office/powerpoint/2010/main" val="3887928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16F0995-0C05-4986-985E-B69DA728B55D}" type="datetimeFigureOut">
              <a:rPr lang="en-US" smtClean="0"/>
              <a:t>9/1/2026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1FDFD28-C1BD-4153-AC8F-ADA10E4E8206}" type="slidenum">
              <a:rPr lang="en-US" smtClean="0"/>
              <a:t>‹#›</a:t>
            </a:fld>
            <a:endParaRPr lang="en-US"/>
          </a:p>
        </p:txBody>
      </p:sp>
    </p:spTree>
    <p:extLst>
      <p:ext uri="{BB962C8B-B14F-4D97-AF65-F5344CB8AC3E}">
        <p14:creationId xmlns:p14="http://schemas.microsoft.com/office/powerpoint/2010/main" val="38390724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16F0995-0C05-4986-985E-B69DA728B55D}" type="datetimeFigureOut">
              <a:rPr lang="en-US" smtClean="0"/>
              <a:t>9/1/2026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1FDFD28-C1BD-4153-AC8F-ADA10E4E8206}" type="slidenum">
              <a:rPr lang="en-US" smtClean="0"/>
              <a:t>‹#›</a:t>
            </a:fld>
            <a:endParaRPr lang="en-US"/>
          </a:p>
        </p:txBody>
      </p:sp>
    </p:spTree>
    <p:extLst>
      <p:ext uri="{BB962C8B-B14F-4D97-AF65-F5344CB8AC3E}">
        <p14:creationId xmlns:p14="http://schemas.microsoft.com/office/powerpoint/2010/main" val="829527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16F0995-0C05-4986-985E-B69DA728B55D}" type="datetimeFigureOut">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FDFD28-C1BD-4153-AC8F-ADA10E4E8206}" type="slidenum">
              <a:rPr lang="en-US" smtClean="0"/>
              <a:t>‹#›</a:t>
            </a:fld>
            <a:endParaRPr lang="en-US"/>
          </a:p>
        </p:txBody>
      </p:sp>
    </p:spTree>
    <p:extLst>
      <p:ext uri="{BB962C8B-B14F-4D97-AF65-F5344CB8AC3E}">
        <p14:creationId xmlns:p14="http://schemas.microsoft.com/office/powerpoint/2010/main" val="39393055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16F0995-0C05-4986-985E-B69DA728B55D}" type="datetimeFigureOut">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FDFD28-C1BD-4153-AC8F-ADA10E4E8206}" type="slidenum">
              <a:rPr lang="en-US" smtClean="0"/>
              <a:t>‹#›</a:t>
            </a:fld>
            <a:endParaRPr lang="en-US"/>
          </a:p>
        </p:txBody>
      </p:sp>
    </p:spTree>
    <p:extLst>
      <p:ext uri="{BB962C8B-B14F-4D97-AF65-F5344CB8AC3E}">
        <p14:creationId xmlns:p14="http://schemas.microsoft.com/office/powerpoint/2010/main" val="930556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16F0995-0C05-4986-985E-B69DA728B55D}" type="datetimeFigureOut">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FDFD28-C1BD-4153-AC8F-ADA10E4E8206}" type="slidenum">
              <a:rPr lang="en-US" smtClean="0"/>
              <a:t>‹#›</a:t>
            </a:fld>
            <a:endParaRPr lang="en-US"/>
          </a:p>
        </p:txBody>
      </p:sp>
    </p:spTree>
    <p:extLst>
      <p:ext uri="{BB962C8B-B14F-4D97-AF65-F5344CB8AC3E}">
        <p14:creationId xmlns:p14="http://schemas.microsoft.com/office/powerpoint/2010/main" val="17648725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16F0995-0C05-4986-985E-B69DA728B55D}" type="datetimeFigureOut">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FDFD28-C1BD-4153-AC8F-ADA10E4E8206}" type="slidenum">
              <a:rPr lang="en-US" smtClean="0"/>
              <a:t>‹#›</a:t>
            </a:fld>
            <a:endParaRPr lang="en-US"/>
          </a:p>
        </p:txBody>
      </p:sp>
    </p:spTree>
    <p:extLst>
      <p:ext uri="{BB962C8B-B14F-4D97-AF65-F5344CB8AC3E}">
        <p14:creationId xmlns:p14="http://schemas.microsoft.com/office/powerpoint/2010/main" val="42632630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16F0995-0C05-4986-985E-B69DA728B55D}" type="datetimeFigureOut">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FDFD28-C1BD-4153-AC8F-ADA10E4E8206}"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3458435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16F0995-0C05-4986-985E-B69DA728B55D}" type="datetimeFigureOut">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FDFD28-C1BD-4153-AC8F-ADA10E4E8206}" type="slidenum">
              <a:rPr lang="en-US" smtClean="0"/>
              <a:t>‹#›</a:t>
            </a:fld>
            <a:endParaRPr lang="en-US"/>
          </a:p>
        </p:txBody>
      </p:sp>
    </p:spTree>
    <p:extLst>
      <p:ext uri="{BB962C8B-B14F-4D97-AF65-F5344CB8AC3E}">
        <p14:creationId xmlns:p14="http://schemas.microsoft.com/office/powerpoint/2010/main" val="42832905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616F0995-0C05-4986-985E-B69DA728B55D}" type="datetimeFigureOut">
              <a:rPr lang="en-US" smtClean="0"/>
              <a:t>9/1/2026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1FDFD28-C1BD-4153-AC8F-ADA10E4E8206}" type="slidenum">
              <a:rPr lang="en-US" smtClean="0"/>
              <a:t>‹#›</a:t>
            </a:fld>
            <a:endParaRPr lang="en-US"/>
          </a:p>
        </p:txBody>
      </p:sp>
    </p:spTree>
    <p:extLst>
      <p:ext uri="{BB962C8B-B14F-4D97-AF65-F5344CB8AC3E}">
        <p14:creationId xmlns:p14="http://schemas.microsoft.com/office/powerpoint/2010/main" val="18377136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616F0995-0C05-4986-985E-B69DA728B55D}" type="datetimeFigureOut">
              <a:rPr lang="en-US" smtClean="0"/>
              <a:t>9/1/2026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1FDFD28-C1BD-4153-AC8F-ADA10E4E8206}" type="slidenum">
              <a:rPr lang="en-US" smtClean="0"/>
              <a:t>‹#›</a:t>
            </a:fld>
            <a:endParaRPr lang="en-US"/>
          </a:p>
        </p:txBody>
      </p:sp>
    </p:spTree>
    <p:extLst>
      <p:ext uri="{BB962C8B-B14F-4D97-AF65-F5344CB8AC3E}">
        <p14:creationId xmlns:p14="http://schemas.microsoft.com/office/powerpoint/2010/main" val="31820950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6F0995-0C05-4986-985E-B69DA728B55D}"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FDFD28-C1BD-4153-AC8F-ADA10E4E8206}" type="slidenum">
              <a:rPr lang="en-US" smtClean="0"/>
              <a:t>‹#›</a:t>
            </a:fld>
            <a:endParaRPr lang="en-US"/>
          </a:p>
        </p:txBody>
      </p:sp>
    </p:spTree>
    <p:extLst>
      <p:ext uri="{BB962C8B-B14F-4D97-AF65-F5344CB8AC3E}">
        <p14:creationId xmlns:p14="http://schemas.microsoft.com/office/powerpoint/2010/main" val="15416735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6F0995-0C05-4986-985E-B69DA728B55D}"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FDFD28-C1BD-4153-AC8F-ADA10E4E8206}" type="slidenum">
              <a:rPr lang="en-US" smtClean="0"/>
              <a:t>‹#›</a:t>
            </a:fld>
            <a:endParaRPr lang="en-US"/>
          </a:p>
        </p:txBody>
      </p:sp>
    </p:spTree>
    <p:extLst>
      <p:ext uri="{BB962C8B-B14F-4D97-AF65-F5344CB8AC3E}">
        <p14:creationId xmlns:p14="http://schemas.microsoft.com/office/powerpoint/2010/main" val="32451542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616F0995-0C05-4986-985E-B69DA728B55D}" type="datetimeFigureOut">
              <a:rPr lang="en-US" smtClean="0"/>
              <a:t>9/1/2026</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81FDFD28-C1BD-4153-AC8F-ADA10E4E8206}" type="slidenum">
              <a:rPr lang="en-US" smtClean="0"/>
              <a:t>‹#›</a:t>
            </a:fld>
            <a:endParaRPr lang="en-US"/>
          </a:p>
        </p:txBody>
      </p:sp>
    </p:spTree>
    <p:extLst>
      <p:ext uri="{BB962C8B-B14F-4D97-AF65-F5344CB8AC3E}">
        <p14:creationId xmlns:p14="http://schemas.microsoft.com/office/powerpoint/2010/main" val="3763881514"/>
      </p:ext>
    </p:extLst>
  </p:cSld>
  <p:clrMap bg1="dk1" tx1="lt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zenodo.org/records/15866724"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B44AE-0924-45E4-A1C5-D1680EDE1E0B}"/>
              </a:ext>
            </a:extLst>
          </p:cNvPr>
          <p:cNvSpPr>
            <a:spLocks noGrp="1"/>
          </p:cNvSpPr>
          <p:nvPr>
            <p:ph type="ctrTitle"/>
          </p:nvPr>
        </p:nvSpPr>
        <p:spPr>
          <a:xfrm>
            <a:off x="1524000" y="2235200"/>
            <a:ext cx="9144000" cy="2387600"/>
          </a:xfrm>
        </p:spPr>
        <p:txBody>
          <a:bodyPr>
            <a:normAutofit fontScale="90000"/>
          </a:bodyPr>
          <a:lstStyle/>
          <a:p>
            <a:pPr algn="l"/>
            <a:r>
              <a:rPr lang="en-US" b="0" i="0" dirty="0">
                <a:effectLst/>
                <a:latin typeface="Arial" panose="020B0604020202020204" pitchFamily="34" charset="0"/>
              </a:rPr>
              <a:t>Single-Cell Analysis of Immune Response to </a:t>
            </a:r>
            <a:r>
              <a:rPr lang="en-US" b="0" i="0" dirty="0" err="1">
                <a:effectLst/>
                <a:latin typeface="Arial" panose="020B0604020202020204" pitchFamily="34" charset="0"/>
              </a:rPr>
              <a:t>Nanoplastic</a:t>
            </a:r>
            <a:r>
              <a:rPr lang="en-US" b="0" i="0" dirty="0">
                <a:effectLst/>
                <a:latin typeface="Arial" panose="020B0604020202020204" pitchFamily="34" charset="0"/>
              </a:rPr>
              <a:t> Particles</a:t>
            </a:r>
            <a:br>
              <a:rPr lang="en-US" dirty="0"/>
            </a:br>
            <a:endParaRPr lang="en-US" dirty="0"/>
          </a:p>
        </p:txBody>
      </p:sp>
      <p:sp>
        <p:nvSpPr>
          <p:cNvPr id="3" name="Subtitle 2">
            <a:extLst>
              <a:ext uri="{FF2B5EF4-FFF2-40B4-BE49-F238E27FC236}">
                <a16:creationId xmlns:a16="http://schemas.microsoft.com/office/drawing/2014/main" id="{C0594943-F4DD-48B0-B69C-EEA8E61DB553}"/>
              </a:ext>
            </a:extLst>
          </p:cNvPr>
          <p:cNvSpPr>
            <a:spLocks noGrp="1"/>
          </p:cNvSpPr>
          <p:nvPr>
            <p:ph type="subTitle" idx="1"/>
          </p:nvPr>
        </p:nvSpPr>
        <p:spPr>
          <a:xfrm>
            <a:off x="2556934" y="5380038"/>
            <a:ext cx="9144000" cy="1655762"/>
          </a:xfrm>
        </p:spPr>
        <p:txBody>
          <a:bodyPr/>
          <a:lstStyle/>
          <a:p>
            <a:pPr algn="r"/>
            <a:r>
              <a:rPr lang="en-US" dirty="0"/>
              <a:t>Danilo </a:t>
            </a:r>
            <a:r>
              <a:rPr lang="en-US" dirty="0" err="1"/>
              <a:t>Risti</a:t>
            </a:r>
            <a:r>
              <a:rPr lang="sr-Latn-RS" dirty="0"/>
              <a:t>ć</a:t>
            </a:r>
            <a:br>
              <a:rPr lang="sr-Latn-RS" dirty="0"/>
            </a:br>
            <a:r>
              <a:rPr lang="sr-Latn-RS" dirty="0"/>
              <a:t>2024/3244</a:t>
            </a:r>
          </a:p>
        </p:txBody>
      </p:sp>
    </p:spTree>
    <p:extLst>
      <p:ext uri="{BB962C8B-B14F-4D97-AF65-F5344CB8AC3E}">
        <p14:creationId xmlns:p14="http://schemas.microsoft.com/office/powerpoint/2010/main" val="2344929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D2CF4-302A-41B1-8CF0-283DB3CF4A0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Project propositions</a:t>
            </a:r>
          </a:p>
        </p:txBody>
      </p:sp>
      <p:sp>
        <p:nvSpPr>
          <p:cNvPr id="3" name="Content Placeholder 2">
            <a:extLst>
              <a:ext uri="{FF2B5EF4-FFF2-40B4-BE49-F238E27FC236}">
                <a16:creationId xmlns:a16="http://schemas.microsoft.com/office/drawing/2014/main" id="{1AAE7A26-6E0A-4954-86A8-CBA2AE0FBD4D}"/>
              </a:ext>
            </a:extLst>
          </p:cNvPr>
          <p:cNvSpPr>
            <a:spLocks noGrp="1"/>
          </p:cNvSpPr>
          <p:nvPr>
            <p:ph idx="1"/>
          </p:nvPr>
        </p:nvSpPr>
        <p:spPr>
          <a:xfrm>
            <a:off x="647700" y="1580051"/>
            <a:ext cx="11324167" cy="4998550"/>
          </a:xfrm>
        </p:spPr>
        <p:txBody>
          <a:bodyPr>
            <a:normAutofit fontScale="47500" lnSpcReduction="20000"/>
          </a:bodyPr>
          <a:lstStyle/>
          <a:p>
            <a:pPr marL="36900" indent="0">
              <a:buNone/>
            </a:pPr>
            <a:r>
              <a:rPr lang="en-US" sz="2300" b="1" dirty="0">
                <a:solidFill>
                  <a:srgbClr val="79C0FF"/>
                </a:solidFill>
                <a:effectLst/>
                <a:latin typeface="Arial" panose="020B0604020202020204" pitchFamily="34" charset="0"/>
                <a:cs typeface="Arial" panose="020B0604020202020204" pitchFamily="34" charset="0"/>
              </a:rPr>
              <a:t>Single-Cell Analysis of Immune Response to </a:t>
            </a:r>
            <a:r>
              <a:rPr lang="en-US" sz="2300" b="1" dirty="0" err="1">
                <a:solidFill>
                  <a:srgbClr val="79C0FF"/>
                </a:solidFill>
                <a:effectLst/>
                <a:latin typeface="Arial" panose="020B0604020202020204" pitchFamily="34" charset="0"/>
                <a:cs typeface="Arial" panose="020B0604020202020204" pitchFamily="34" charset="0"/>
              </a:rPr>
              <a:t>Nanoplastic</a:t>
            </a:r>
            <a:r>
              <a:rPr lang="en-US" sz="2300" b="1" dirty="0">
                <a:solidFill>
                  <a:srgbClr val="79C0FF"/>
                </a:solidFill>
                <a:effectLst/>
                <a:latin typeface="Arial" panose="020B0604020202020204" pitchFamily="34" charset="0"/>
                <a:cs typeface="Arial" panose="020B0604020202020204" pitchFamily="34" charset="0"/>
              </a:rPr>
              <a:t> Particles</a:t>
            </a:r>
            <a:br>
              <a:rPr lang="en-US" sz="2300" b="1" dirty="0">
                <a:solidFill>
                  <a:srgbClr val="79C0FF"/>
                </a:solidFill>
                <a:effectLst/>
                <a:latin typeface="Arial" panose="020B0604020202020204" pitchFamily="34" charset="0"/>
                <a:cs typeface="Arial" panose="020B0604020202020204" pitchFamily="34" charset="0"/>
              </a:rPr>
            </a:br>
            <a:r>
              <a:rPr lang="en-US" sz="2000" b="0" i="0" dirty="0" err="1">
                <a:effectLst/>
                <a:latin typeface="Arial" panose="020B0604020202020204" pitchFamily="34" charset="0"/>
                <a:cs typeface="Arial" panose="020B0604020202020204" pitchFamily="34" charset="0"/>
              </a:rPr>
              <a:t>Nanoplastics</a:t>
            </a:r>
            <a:r>
              <a:rPr lang="en-US" sz="2000" b="0" i="0" dirty="0">
                <a:effectLst/>
                <a:latin typeface="Arial" panose="020B0604020202020204" pitchFamily="34" charset="0"/>
                <a:cs typeface="Arial" panose="020B0604020202020204" pitchFamily="34" charset="0"/>
              </a:rPr>
              <a:t> that enter the bloodstream interact directly with immune cells, and particle size</a:t>
            </a:r>
            <a:r>
              <a:rPr lang="en-US" b="0" i="0" dirty="0">
                <a:effectLst/>
                <a:latin typeface="Arial" panose="020B0604020202020204" pitchFamily="34" charset="0"/>
                <a:cs typeface="Arial" panose="020B0604020202020204" pitchFamily="34" charset="0"/>
              </a:rPr>
              <a:t> </a:t>
            </a:r>
            <a:r>
              <a:rPr lang="en-US" sz="2000" b="0" i="0" dirty="0">
                <a:effectLst/>
                <a:latin typeface="Arial" panose="020B0604020202020204" pitchFamily="34" charset="0"/>
                <a:cs typeface="Arial" panose="020B0604020202020204" pitchFamily="34" charset="0"/>
              </a:rPr>
              <a:t>appears to shape the response. </a:t>
            </a:r>
            <a:br>
              <a:rPr lang="en-US" sz="2000" b="0" i="0" dirty="0">
                <a:effectLst/>
                <a:latin typeface="Arial" panose="020B0604020202020204" pitchFamily="34" charset="0"/>
                <a:cs typeface="Arial" panose="020B0604020202020204" pitchFamily="34" charset="0"/>
              </a:rPr>
            </a:br>
            <a:r>
              <a:rPr lang="en-US" dirty="0">
                <a:effectLst/>
                <a:latin typeface="Arial" panose="020B0604020202020204" pitchFamily="34" charset="0"/>
                <a:cs typeface="Arial" panose="020B0604020202020204" pitchFamily="34" charset="0"/>
              </a:rPr>
              <a:t>Y</a:t>
            </a:r>
            <a:r>
              <a:rPr lang="en-US" sz="2000" b="0" i="0" dirty="0">
                <a:effectLst/>
                <a:latin typeface="Arial" panose="020B0604020202020204" pitchFamily="34" charset="0"/>
                <a:cs typeface="Arial" panose="020B0604020202020204" pitchFamily="34" charset="0"/>
              </a:rPr>
              <a:t>ou will use single-cell RNA sequencing (</a:t>
            </a:r>
            <a:r>
              <a:rPr lang="en-US" sz="2000" b="0" i="0" dirty="0" err="1">
                <a:effectLst/>
                <a:latin typeface="Arial" panose="020B0604020202020204" pitchFamily="34" charset="0"/>
                <a:cs typeface="Arial" panose="020B0604020202020204" pitchFamily="34" charset="0"/>
              </a:rPr>
              <a:t>scRNA</a:t>
            </a:r>
            <a:r>
              <a:rPr lang="en-US" sz="2000" b="0" i="0" dirty="0">
                <a:effectLst/>
                <a:latin typeface="Arial" panose="020B0604020202020204" pitchFamily="34" charset="0"/>
                <a:cs typeface="Arial" panose="020B0604020202020204" pitchFamily="34" charset="0"/>
              </a:rPr>
              <a:t>-seq) to</a:t>
            </a:r>
            <a:r>
              <a:rPr lang="en-US" b="0" i="0" dirty="0">
                <a:effectLst/>
                <a:latin typeface="Arial" panose="020B0604020202020204" pitchFamily="34" charset="0"/>
                <a:cs typeface="Arial" panose="020B0604020202020204" pitchFamily="34" charset="0"/>
              </a:rPr>
              <a:t> </a:t>
            </a:r>
            <a:r>
              <a:rPr lang="en-US" sz="2000" b="0" i="0" dirty="0">
                <a:effectLst/>
                <a:latin typeface="Arial" panose="020B0604020202020204" pitchFamily="34" charset="0"/>
                <a:cs typeface="Arial" panose="020B0604020202020204" pitchFamily="34" charset="0"/>
              </a:rPr>
              <a:t>investigate how </a:t>
            </a:r>
            <a:r>
              <a:rPr lang="en-US" sz="2000" b="0" i="0" dirty="0" err="1">
                <a:effectLst/>
                <a:latin typeface="Arial" panose="020B0604020202020204" pitchFamily="34" charset="0"/>
                <a:cs typeface="Arial" panose="020B0604020202020204" pitchFamily="34" charset="0"/>
              </a:rPr>
              <a:t>nanoplastics</a:t>
            </a:r>
            <a:r>
              <a:rPr lang="en-US" sz="2000" b="0" i="0" dirty="0">
                <a:effectLst/>
                <a:latin typeface="Arial" panose="020B0604020202020204" pitchFamily="34" charset="0"/>
                <a:cs typeface="Arial" panose="020B0604020202020204" pitchFamily="34" charset="0"/>
              </a:rPr>
              <a:t> of different sizes affect human peripheral blood immune cells</a:t>
            </a:r>
            <a:endParaRPr lang="en-US" sz="2300" b="0" dirty="0">
              <a:solidFill>
                <a:srgbClr val="BBBEBF"/>
              </a:solidFill>
              <a:effectLst/>
              <a:latin typeface="Arial" panose="020B0604020202020204" pitchFamily="34" charset="0"/>
              <a:cs typeface="Arial" panose="020B0604020202020204" pitchFamily="34" charset="0"/>
            </a:endParaRPr>
          </a:p>
          <a:p>
            <a:pPr marL="36900" indent="0">
              <a:buNone/>
            </a:pPr>
            <a:br>
              <a:rPr lang="en-US" b="0" dirty="0">
                <a:solidFill>
                  <a:srgbClr val="BBBEBF"/>
                </a:solidFill>
                <a:effectLst/>
                <a:latin typeface="Arial" panose="020B0604020202020204" pitchFamily="34" charset="0"/>
                <a:cs typeface="Arial" panose="020B0604020202020204" pitchFamily="34" charset="0"/>
              </a:rPr>
            </a:br>
            <a:r>
              <a:rPr lang="en-US" b="1" dirty="0">
                <a:solidFill>
                  <a:srgbClr val="79C0FF"/>
                </a:solidFill>
                <a:effectLst/>
                <a:latin typeface="Arial" panose="020B0604020202020204" pitchFamily="34" charset="0"/>
                <a:cs typeface="Arial" panose="020B0604020202020204" pitchFamily="34" charset="0"/>
              </a:rPr>
              <a:t>Dataset Description</a:t>
            </a:r>
            <a:endParaRPr lang="en-US" b="0" dirty="0">
              <a:solidFill>
                <a:srgbClr val="BBBEBF"/>
              </a:solidFill>
              <a:effectLst/>
              <a:latin typeface="Arial" panose="020B0604020202020204" pitchFamily="34" charset="0"/>
              <a:cs typeface="Arial" panose="020B0604020202020204" pitchFamily="34" charset="0"/>
            </a:endParaRPr>
          </a:p>
          <a:p>
            <a:pPr marL="36900" indent="0">
              <a:buNone/>
            </a:pPr>
            <a:br>
              <a:rPr lang="en-US" b="0" dirty="0">
                <a:solidFill>
                  <a:srgbClr val="BBBEBF"/>
                </a:solidFill>
                <a:effectLst/>
                <a:latin typeface="Arial" panose="020B0604020202020204" pitchFamily="34" charset="0"/>
                <a:cs typeface="Arial" panose="020B0604020202020204" pitchFamily="34" charset="0"/>
              </a:rPr>
            </a:br>
            <a:r>
              <a:rPr lang="en-US" b="1" dirty="0">
                <a:solidFill>
                  <a:srgbClr val="C9D1D9"/>
                </a:solidFill>
                <a:effectLst/>
                <a:latin typeface="Arial" panose="020B0604020202020204" pitchFamily="34" charset="0"/>
                <a:cs typeface="Arial" panose="020B0604020202020204" pitchFamily="34" charset="0"/>
              </a:rPr>
              <a:t>Source:</a:t>
            </a:r>
            <a:r>
              <a:rPr lang="en-US" b="0" dirty="0">
                <a:solidFill>
                  <a:srgbClr val="BBBEBF"/>
                </a:solidFill>
                <a:effectLst/>
                <a:latin typeface="Arial" panose="020B0604020202020204" pitchFamily="34" charset="0"/>
                <a:cs typeface="Arial" panose="020B0604020202020204" pitchFamily="34" charset="0"/>
              </a:rPr>
              <a:t> </a:t>
            </a:r>
            <a:r>
              <a:rPr lang="en-US" b="0" dirty="0" err="1">
                <a:solidFill>
                  <a:srgbClr val="A5D6FF"/>
                </a:solidFill>
                <a:effectLst/>
                <a:latin typeface="Arial" panose="020B0604020202020204" pitchFamily="34" charset="0"/>
                <a:cs typeface="Arial" panose="020B0604020202020204" pitchFamily="34" charset="0"/>
              </a:rPr>
              <a:t>Zenodo</a:t>
            </a:r>
            <a:r>
              <a:rPr lang="en-US" b="0" dirty="0">
                <a:solidFill>
                  <a:srgbClr val="A5D6FF"/>
                </a:solidFill>
                <a:effectLst/>
                <a:latin typeface="Arial" panose="020B0604020202020204" pitchFamily="34" charset="0"/>
                <a:cs typeface="Arial" panose="020B0604020202020204" pitchFamily="34" charset="0"/>
              </a:rPr>
              <a:t> </a:t>
            </a:r>
            <a:r>
              <a:rPr lang="en-US" b="0" u="sng" dirty="0">
                <a:solidFill>
                  <a:srgbClr val="BBBEBF"/>
                </a:solidFill>
                <a:effectLst/>
                <a:latin typeface="Arial" panose="020B0604020202020204" pitchFamily="34" charset="0"/>
                <a:cs typeface="Arial" panose="020B0604020202020204" pitchFamily="34" charset="0"/>
                <a:hlinkClick r:id="rId2"/>
              </a:rPr>
              <a:t>https://zenodo.org/records/15866724</a:t>
            </a:r>
            <a:r>
              <a:rPr lang="en-US" b="0" dirty="0">
                <a:solidFill>
                  <a:srgbClr val="BBBEBF"/>
                </a:solidFill>
                <a:effectLst/>
                <a:latin typeface="Arial" panose="020B0604020202020204" pitchFamily="34" charset="0"/>
                <a:cs typeface="Arial" panose="020B0604020202020204" pitchFamily="34" charset="0"/>
              </a:rPr>
              <a:t> DOI:10.5281/zenodo.15866724</a:t>
            </a:r>
          </a:p>
          <a:p>
            <a:pPr marL="36900" indent="0">
              <a:buNone/>
            </a:pPr>
            <a:br>
              <a:rPr lang="en-US" b="0" dirty="0">
                <a:solidFill>
                  <a:srgbClr val="BBBEBF"/>
                </a:solidFill>
                <a:effectLst/>
                <a:latin typeface="Arial" panose="020B0604020202020204" pitchFamily="34" charset="0"/>
                <a:cs typeface="Arial" panose="020B0604020202020204" pitchFamily="34" charset="0"/>
              </a:rPr>
            </a:br>
            <a:r>
              <a:rPr lang="en-US" b="1" dirty="0">
                <a:solidFill>
                  <a:srgbClr val="C9D1D9"/>
                </a:solidFill>
                <a:effectLst/>
                <a:latin typeface="Arial" panose="020B0604020202020204" pitchFamily="34" charset="0"/>
                <a:cs typeface="Arial" panose="020B0604020202020204" pitchFamily="34" charset="0"/>
              </a:rPr>
              <a:t>Samples:</a:t>
            </a:r>
            <a:endParaRPr lang="en-US" b="0" dirty="0">
              <a:solidFill>
                <a:srgbClr val="BBBEBF"/>
              </a:solidFill>
              <a:effectLst/>
              <a:latin typeface="Arial" panose="020B0604020202020204" pitchFamily="34" charset="0"/>
              <a:cs typeface="Arial" panose="020B0604020202020204" pitchFamily="34" charset="0"/>
            </a:endParaRPr>
          </a:p>
          <a:p>
            <a:pPr marL="36900" indent="0">
              <a:buNone/>
            </a:pPr>
            <a:r>
              <a:rPr lang="en-US" b="1" dirty="0">
                <a:solidFill>
                  <a:srgbClr val="C9D1D9"/>
                </a:solidFill>
                <a:effectLst/>
                <a:latin typeface="Arial" panose="020B0604020202020204" pitchFamily="34" charset="0"/>
                <a:cs typeface="Arial" panose="020B0604020202020204" pitchFamily="34" charset="0"/>
              </a:rPr>
              <a:t>Sample 1:</a:t>
            </a:r>
            <a:r>
              <a:rPr lang="en-US" b="0" dirty="0">
                <a:solidFill>
                  <a:srgbClr val="BBBEBF"/>
                </a:solidFill>
                <a:effectLst/>
                <a:latin typeface="Arial" panose="020B0604020202020204" pitchFamily="34" charset="0"/>
                <a:cs typeface="Arial" panose="020B0604020202020204" pitchFamily="34" charset="0"/>
              </a:rPr>
              <a:t> 40 nm </a:t>
            </a:r>
            <a:r>
              <a:rPr lang="en-US" b="0" dirty="0" err="1">
                <a:solidFill>
                  <a:srgbClr val="BBBEBF"/>
                </a:solidFill>
                <a:effectLst/>
                <a:latin typeface="Arial" panose="020B0604020202020204" pitchFamily="34" charset="0"/>
                <a:cs typeface="Arial" panose="020B0604020202020204" pitchFamily="34" charset="0"/>
              </a:rPr>
              <a:t>carboxylated</a:t>
            </a:r>
            <a:r>
              <a:rPr lang="en-US" b="0" dirty="0">
                <a:solidFill>
                  <a:srgbClr val="BBBEBF"/>
                </a:solidFill>
                <a:effectLst/>
                <a:latin typeface="Arial" panose="020B0604020202020204" pitchFamily="34" charset="0"/>
                <a:cs typeface="Arial" panose="020B0604020202020204" pitchFamily="34" charset="0"/>
              </a:rPr>
              <a:t> polystyrene nanoparticles (PSNPs)</a:t>
            </a:r>
          </a:p>
          <a:p>
            <a:pPr marL="36900" indent="0">
              <a:buNone/>
            </a:pPr>
            <a:r>
              <a:rPr lang="en-US" b="1" dirty="0">
                <a:solidFill>
                  <a:srgbClr val="C9D1D9"/>
                </a:solidFill>
                <a:effectLst/>
                <a:latin typeface="Arial" panose="020B0604020202020204" pitchFamily="34" charset="0"/>
                <a:cs typeface="Arial" panose="020B0604020202020204" pitchFamily="34" charset="0"/>
              </a:rPr>
              <a:t>Sample 2:</a:t>
            </a:r>
            <a:r>
              <a:rPr lang="en-US" b="0" dirty="0">
                <a:solidFill>
                  <a:srgbClr val="BBBEBF"/>
                </a:solidFill>
                <a:effectLst/>
                <a:latin typeface="Arial" panose="020B0604020202020204" pitchFamily="34" charset="0"/>
                <a:cs typeface="Arial" panose="020B0604020202020204" pitchFamily="34" charset="0"/>
              </a:rPr>
              <a:t> 200 nm PSNPs</a:t>
            </a:r>
          </a:p>
          <a:p>
            <a:pPr marL="36900" indent="0">
              <a:buNone/>
            </a:pPr>
            <a:r>
              <a:rPr lang="en-US" b="1" dirty="0">
                <a:solidFill>
                  <a:srgbClr val="C9D1D9"/>
                </a:solidFill>
                <a:effectLst/>
                <a:latin typeface="Arial" panose="020B0604020202020204" pitchFamily="34" charset="0"/>
                <a:cs typeface="Arial" panose="020B0604020202020204" pitchFamily="34" charset="0"/>
              </a:rPr>
              <a:t>Sample 3:</a:t>
            </a:r>
            <a:r>
              <a:rPr lang="en-US" b="0" dirty="0">
                <a:solidFill>
                  <a:srgbClr val="BBBEBF"/>
                </a:solidFill>
                <a:effectLst/>
                <a:latin typeface="Arial" panose="020B0604020202020204" pitchFamily="34" charset="0"/>
                <a:cs typeface="Arial" panose="020B0604020202020204" pitchFamily="34" charset="0"/>
              </a:rPr>
              <a:t> 40 nm + 200 nm mixture</a:t>
            </a:r>
          </a:p>
          <a:p>
            <a:pPr marL="36900" indent="0">
              <a:buNone/>
            </a:pPr>
            <a:r>
              <a:rPr lang="en-US" b="1" dirty="0">
                <a:solidFill>
                  <a:srgbClr val="C9D1D9"/>
                </a:solidFill>
                <a:effectLst/>
                <a:latin typeface="Arial" panose="020B0604020202020204" pitchFamily="34" charset="0"/>
                <a:cs typeface="Arial" panose="020B0604020202020204" pitchFamily="34" charset="0"/>
              </a:rPr>
              <a:t>Sample 4:</a:t>
            </a:r>
            <a:r>
              <a:rPr lang="en-US" b="0" dirty="0">
                <a:solidFill>
                  <a:srgbClr val="BBBEBF"/>
                </a:solidFill>
                <a:effectLst/>
                <a:latin typeface="Arial" panose="020B0604020202020204" pitchFamily="34" charset="0"/>
                <a:cs typeface="Arial" panose="020B0604020202020204" pitchFamily="34" charset="0"/>
              </a:rPr>
              <a:t> Control (no exposure)</a:t>
            </a:r>
          </a:p>
          <a:p>
            <a:pPr marL="36900" indent="0">
              <a:buNone/>
            </a:pPr>
            <a:br>
              <a:rPr lang="en-US" b="0" dirty="0">
                <a:solidFill>
                  <a:srgbClr val="BBBEBF"/>
                </a:solidFill>
                <a:effectLst/>
                <a:latin typeface="Arial" panose="020B0604020202020204" pitchFamily="34" charset="0"/>
                <a:cs typeface="Arial" panose="020B0604020202020204" pitchFamily="34" charset="0"/>
              </a:rPr>
            </a:br>
            <a:r>
              <a:rPr lang="en-US" b="1" dirty="0">
                <a:solidFill>
                  <a:srgbClr val="79C0FF"/>
                </a:solidFill>
                <a:effectLst/>
                <a:latin typeface="Arial" panose="020B0604020202020204" pitchFamily="34" charset="0"/>
                <a:cs typeface="Arial" panose="020B0604020202020204" pitchFamily="34" charset="0"/>
              </a:rPr>
              <a:t>Analysis Workflow</a:t>
            </a:r>
            <a:endParaRPr lang="en-US" b="0" dirty="0">
              <a:solidFill>
                <a:srgbClr val="BBBEBF"/>
              </a:solidFill>
              <a:effectLst/>
              <a:latin typeface="Arial" panose="020B0604020202020204" pitchFamily="34" charset="0"/>
              <a:cs typeface="Arial" panose="020B0604020202020204" pitchFamily="34" charset="0"/>
            </a:endParaRPr>
          </a:p>
          <a:p>
            <a:r>
              <a:rPr lang="en-US" b="0" i="0" dirty="0">
                <a:effectLst/>
                <a:latin typeface="Arial" panose="020B0604020202020204" pitchFamily="34" charset="0"/>
              </a:rPr>
              <a:t>QC &amp; preprocessing — filter cells, </a:t>
            </a:r>
            <a:r>
              <a:rPr lang="en-US" b="0" i="0" dirty="0" err="1">
                <a:effectLst/>
                <a:latin typeface="Arial" panose="020B0604020202020204" pitchFamily="34" charset="0"/>
              </a:rPr>
              <a:t>normalise</a:t>
            </a:r>
            <a:r>
              <a:rPr lang="en-US" b="0" i="0" dirty="0">
                <a:effectLst/>
                <a:latin typeface="Arial" panose="020B0604020202020204" pitchFamily="34" charset="0"/>
              </a:rPr>
              <a:t>, select variable genes. Justify thresholds.</a:t>
            </a:r>
          </a:p>
          <a:p>
            <a:r>
              <a:rPr lang="en-US" b="0" i="0" dirty="0">
                <a:effectLst/>
                <a:latin typeface="Arial" panose="020B0604020202020204" pitchFamily="34" charset="0"/>
              </a:rPr>
              <a:t>Integration &amp; clustering - combine all four samples with a batch-correction method of</a:t>
            </a:r>
            <a:br>
              <a:rPr lang="en-US" dirty="0"/>
            </a:br>
            <a:r>
              <a:rPr lang="en-US" b="0" i="0" dirty="0">
                <a:effectLst/>
                <a:latin typeface="Arial" panose="020B0604020202020204" pitchFamily="34" charset="0"/>
              </a:rPr>
              <a:t>your choice; compute UMAP and clusters.</a:t>
            </a:r>
          </a:p>
          <a:p>
            <a:r>
              <a:rPr lang="en-US" b="0" i="0" dirty="0">
                <a:effectLst/>
                <a:latin typeface="Arial" panose="020B0604020202020204" pitchFamily="34" charset="0"/>
              </a:rPr>
              <a:t>Cell type annotation - assign immune cell types (T, B, NK, monocytes, etc.) using</a:t>
            </a:r>
            <a:br>
              <a:rPr lang="en-US" dirty="0"/>
            </a:br>
            <a:r>
              <a:rPr lang="en-US" b="0" i="0" dirty="0">
                <a:effectLst/>
                <a:latin typeface="Arial" panose="020B0604020202020204" pitchFamily="34" charset="0"/>
              </a:rPr>
              <a:t>marker genes and the Azimuth PBMC reference (RDS) dataset.</a:t>
            </a:r>
          </a:p>
          <a:p>
            <a:r>
              <a:rPr lang="en-US" b="0" i="0" dirty="0">
                <a:effectLst/>
                <a:latin typeface="Arial" panose="020B0604020202020204" pitchFamily="34" charset="0"/>
              </a:rPr>
              <a:t>Composition analysis - compare cell type proportions across the four samples.</a:t>
            </a:r>
          </a:p>
          <a:p>
            <a:r>
              <a:rPr lang="en-US" b="0" i="0" dirty="0">
                <a:effectLst/>
                <a:latin typeface="Arial" panose="020B0604020202020204" pitchFamily="34" charset="0"/>
              </a:rPr>
              <a:t>Differential expression - for each major cell type, compare each exposed sample</a:t>
            </a:r>
            <a:br>
              <a:rPr lang="en-US" dirty="0"/>
            </a:br>
            <a:r>
              <a:rPr lang="en-US" b="0" i="0" dirty="0">
                <a:effectLst/>
                <a:latin typeface="Arial" panose="020B0604020202020204" pitchFamily="34" charset="0"/>
              </a:rPr>
              <a:t>against the control; run pathway enrichment (GO/</a:t>
            </a:r>
            <a:r>
              <a:rPr lang="en-US" b="0" i="0" dirty="0" err="1">
                <a:effectLst/>
                <a:latin typeface="Arial" panose="020B0604020202020204" pitchFamily="34" charset="0"/>
              </a:rPr>
              <a:t>Reactome</a:t>
            </a:r>
            <a:r>
              <a:rPr lang="en-US" b="0" i="0" dirty="0">
                <a:effectLst/>
                <a:latin typeface="Arial" panose="020B0604020202020204" pitchFamily="34" charset="0"/>
              </a:rPr>
              <a:t>/KEGG).</a:t>
            </a:r>
          </a:p>
          <a:p>
            <a:r>
              <a:rPr lang="en-US" b="0" i="0" dirty="0">
                <a:effectLst/>
                <a:latin typeface="Arial" panose="020B0604020202020204" pitchFamily="34" charset="0"/>
              </a:rPr>
              <a:t>Size-specific effects - identify responses that are unique to 40 nm, unique to 200 nm,</a:t>
            </a:r>
            <a:br>
              <a:rPr lang="en-US" dirty="0"/>
            </a:br>
            <a:r>
              <a:rPr lang="en-US" b="0" i="0" dirty="0">
                <a:effectLst/>
                <a:latin typeface="Arial" panose="020B0604020202020204" pitchFamily="34" charset="0"/>
              </a:rPr>
              <a:t>shared, or emerge only in the mixture. Interpret biologically</a:t>
            </a:r>
            <a:endParaRPr lang="en-US" b="0" dirty="0">
              <a:solidFill>
                <a:srgbClr val="BBBEBF"/>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983732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8678C-62C0-4F3E-9CB7-0924FA6B1A25}"/>
              </a:ext>
            </a:extLst>
          </p:cNvPr>
          <p:cNvSpPr>
            <a:spLocks noGrp="1"/>
          </p:cNvSpPr>
          <p:nvPr>
            <p:ph type="title"/>
          </p:nvPr>
        </p:nvSpPr>
        <p:spPr>
          <a:xfrm>
            <a:off x="919119" y="247910"/>
            <a:ext cx="10353762" cy="970450"/>
          </a:xfrm>
        </p:spPr>
        <p:txBody>
          <a:bodyPr/>
          <a:lstStyle/>
          <a:p>
            <a:r>
              <a:rPr lang="en-US" dirty="0">
                <a:solidFill>
                  <a:srgbClr val="C9D1D9"/>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QC &amp; Preprocessing</a:t>
            </a:r>
            <a:endParaRPr lang="en-US"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2B950ED9-4B70-4257-9E39-89D5504116D8}"/>
              </a:ext>
            </a:extLst>
          </p:cNvPr>
          <p:cNvPicPr>
            <a:picLocks noChangeAspect="1"/>
          </p:cNvPicPr>
          <p:nvPr/>
        </p:nvPicPr>
        <p:blipFill>
          <a:blip r:embed="rId2"/>
          <a:stretch>
            <a:fillRect/>
          </a:stretch>
        </p:blipFill>
        <p:spPr>
          <a:xfrm>
            <a:off x="124150" y="1368383"/>
            <a:ext cx="4612708" cy="4924772"/>
          </a:xfrm>
          <a:prstGeom prst="rect">
            <a:avLst/>
          </a:prstGeom>
        </p:spPr>
      </p:pic>
      <p:pic>
        <p:nvPicPr>
          <p:cNvPr id="11" name="Picture 10">
            <a:extLst>
              <a:ext uri="{FF2B5EF4-FFF2-40B4-BE49-F238E27FC236}">
                <a16:creationId xmlns:a16="http://schemas.microsoft.com/office/drawing/2014/main" id="{B6795772-91E9-46DE-96F1-00C66AB0BB5E}"/>
              </a:ext>
            </a:extLst>
          </p:cNvPr>
          <p:cNvPicPr>
            <a:picLocks noChangeAspect="1"/>
          </p:cNvPicPr>
          <p:nvPr/>
        </p:nvPicPr>
        <p:blipFill>
          <a:blip r:embed="rId3"/>
          <a:stretch>
            <a:fillRect/>
          </a:stretch>
        </p:blipFill>
        <p:spPr>
          <a:xfrm>
            <a:off x="4822214" y="1368383"/>
            <a:ext cx="3678440" cy="4924772"/>
          </a:xfrm>
          <a:prstGeom prst="rect">
            <a:avLst/>
          </a:prstGeom>
        </p:spPr>
      </p:pic>
      <p:sp>
        <p:nvSpPr>
          <p:cNvPr id="13" name="TextBox 12">
            <a:extLst>
              <a:ext uri="{FF2B5EF4-FFF2-40B4-BE49-F238E27FC236}">
                <a16:creationId xmlns:a16="http://schemas.microsoft.com/office/drawing/2014/main" id="{EEFCC739-4014-47EB-843A-CE2859EE158B}"/>
              </a:ext>
            </a:extLst>
          </p:cNvPr>
          <p:cNvSpPr txBox="1"/>
          <p:nvPr/>
        </p:nvSpPr>
        <p:spPr>
          <a:xfrm>
            <a:off x="8500654" y="2399608"/>
            <a:ext cx="3874965" cy="2308324"/>
          </a:xfrm>
          <a:prstGeom prst="rect">
            <a:avLst/>
          </a:prstGeom>
          <a:noFill/>
        </p:spPr>
        <p:txBody>
          <a:bodyPr wrap="square">
            <a:spAutoFit/>
          </a:bodyPr>
          <a:lstStyle/>
          <a:p>
            <a:r>
              <a:rPr lang="en-US" b="1" dirty="0">
                <a:solidFill>
                  <a:srgbClr val="C9D1D9"/>
                </a:solidFill>
                <a:effectLst/>
                <a:latin typeface="Arial" panose="020B0604020202020204" pitchFamily="34" charset="0"/>
                <a:cs typeface="Arial" panose="020B0604020202020204" pitchFamily="34" charset="0"/>
              </a:rPr>
              <a:t>Cell filtering criteria:</a:t>
            </a:r>
            <a:endParaRPr lang="en-US" dirty="0">
              <a:solidFill>
                <a:srgbClr val="BBBEBF"/>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0" dirty="0">
                <a:solidFill>
                  <a:srgbClr val="BBBEBF"/>
                </a:solidFill>
                <a:effectLst/>
                <a:latin typeface="Arial" panose="020B0604020202020204" pitchFamily="34" charset="0"/>
                <a:cs typeface="Arial" panose="020B0604020202020204" pitchFamily="34" charset="0"/>
              </a:rPr>
              <a:t>Minimum counts: 200 </a:t>
            </a:r>
          </a:p>
          <a:p>
            <a:pPr marL="285750" indent="-285750">
              <a:buFont typeface="Arial" panose="020B0604020202020204" pitchFamily="34" charset="0"/>
              <a:buChar char="•"/>
            </a:pPr>
            <a:r>
              <a:rPr lang="en-US" b="0" dirty="0">
                <a:solidFill>
                  <a:srgbClr val="BBBEBF"/>
                </a:solidFill>
                <a:effectLst/>
                <a:latin typeface="Arial" panose="020B0604020202020204" pitchFamily="34" charset="0"/>
                <a:cs typeface="Arial" panose="020B0604020202020204" pitchFamily="34" charset="0"/>
              </a:rPr>
              <a:t>Minimum genes: 200 </a:t>
            </a:r>
          </a:p>
          <a:p>
            <a:pPr marL="285750" indent="-285750">
              <a:buFont typeface="Arial" panose="020B0604020202020204" pitchFamily="34" charset="0"/>
              <a:buChar char="•"/>
            </a:pPr>
            <a:r>
              <a:rPr lang="en-US" b="0" dirty="0">
                <a:solidFill>
                  <a:srgbClr val="BBBEBF"/>
                </a:solidFill>
                <a:effectLst/>
                <a:latin typeface="Arial" panose="020B0604020202020204" pitchFamily="34" charset="0"/>
                <a:cs typeface="Arial" panose="020B0604020202020204" pitchFamily="34" charset="0"/>
              </a:rPr>
              <a:t>Maximum genes: 5000</a:t>
            </a:r>
          </a:p>
          <a:p>
            <a:pPr marL="285750" indent="-285750">
              <a:buFont typeface="Arial" panose="020B0604020202020204" pitchFamily="34" charset="0"/>
              <a:buChar char="•"/>
            </a:pPr>
            <a:r>
              <a:rPr lang="en-US" b="0" dirty="0">
                <a:solidFill>
                  <a:srgbClr val="BBBEBF"/>
                </a:solidFill>
                <a:effectLst/>
                <a:latin typeface="Arial" panose="020B0604020202020204" pitchFamily="34" charset="0"/>
                <a:cs typeface="Arial" panose="020B0604020202020204" pitchFamily="34" charset="0"/>
              </a:rPr>
              <a:t>Maximum mitochondrial: 10%</a:t>
            </a:r>
          </a:p>
          <a:p>
            <a:br>
              <a:rPr lang="en-US" b="0" dirty="0">
                <a:solidFill>
                  <a:srgbClr val="BBBEBF"/>
                </a:solidFill>
                <a:effectLst/>
                <a:latin typeface="Arial" panose="020B0604020202020204" pitchFamily="34" charset="0"/>
                <a:cs typeface="Arial" panose="020B0604020202020204" pitchFamily="34" charset="0"/>
              </a:rPr>
            </a:br>
            <a:r>
              <a:rPr lang="en-US" b="1" dirty="0">
                <a:solidFill>
                  <a:srgbClr val="C9D1D9"/>
                </a:solidFill>
                <a:effectLst/>
                <a:latin typeface="Arial" panose="020B0604020202020204" pitchFamily="34" charset="0"/>
                <a:cs typeface="Arial" panose="020B0604020202020204" pitchFamily="34" charset="0"/>
              </a:rPr>
              <a:t>Gene filtering:</a:t>
            </a:r>
            <a:endParaRPr lang="en-US" dirty="0">
              <a:solidFill>
                <a:srgbClr val="BBBEBF"/>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0" dirty="0">
                <a:solidFill>
                  <a:srgbClr val="BBBEBF"/>
                </a:solidFill>
                <a:effectLst/>
                <a:latin typeface="Arial" panose="020B0604020202020204" pitchFamily="34" charset="0"/>
                <a:cs typeface="Arial" panose="020B0604020202020204" pitchFamily="34" charset="0"/>
              </a:rPr>
              <a:t>Minimum cells: </a:t>
            </a:r>
            <a:r>
              <a:rPr lang="en-US" dirty="0">
                <a:solidFill>
                  <a:srgbClr val="BBBEBF"/>
                </a:solidFill>
                <a:latin typeface="Arial" panose="020B0604020202020204" pitchFamily="34" charset="0"/>
                <a:cs typeface="Arial" panose="020B0604020202020204" pitchFamily="34" charset="0"/>
              </a:rPr>
              <a:t>3</a:t>
            </a:r>
          </a:p>
        </p:txBody>
      </p:sp>
    </p:spTree>
    <p:extLst>
      <p:ext uri="{BB962C8B-B14F-4D97-AF65-F5344CB8AC3E}">
        <p14:creationId xmlns:p14="http://schemas.microsoft.com/office/powerpoint/2010/main" val="33446288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8678C-62C0-4F3E-9CB7-0924FA6B1A25}"/>
              </a:ext>
            </a:extLst>
          </p:cNvPr>
          <p:cNvSpPr>
            <a:spLocks noGrp="1"/>
          </p:cNvSpPr>
          <p:nvPr>
            <p:ph type="title"/>
          </p:nvPr>
        </p:nvSpPr>
        <p:spPr>
          <a:xfrm>
            <a:off x="919119" y="247910"/>
            <a:ext cx="10353762" cy="970450"/>
          </a:xfrm>
        </p:spPr>
        <p:txBody>
          <a:bodyPr/>
          <a:lstStyle/>
          <a:p>
            <a:r>
              <a:rPr lang="en-US" dirty="0">
                <a:solidFill>
                  <a:srgbClr val="C9D1D9"/>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QC &amp; Preprocessing</a:t>
            </a:r>
            <a:endParaRPr lang="en-US"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5B541642-07B4-4673-AEBE-0CD44370AD01}"/>
              </a:ext>
            </a:extLst>
          </p:cNvPr>
          <p:cNvPicPr>
            <a:picLocks noChangeAspect="1"/>
          </p:cNvPicPr>
          <p:nvPr/>
        </p:nvPicPr>
        <p:blipFill>
          <a:blip r:embed="rId2"/>
          <a:stretch>
            <a:fillRect/>
          </a:stretch>
        </p:blipFill>
        <p:spPr>
          <a:xfrm>
            <a:off x="126999" y="1117024"/>
            <a:ext cx="3828665" cy="5556566"/>
          </a:xfrm>
          <a:prstGeom prst="rect">
            <a:avLst/>
          </a:prstGeom>
        </p:spPr>
      </p:pic>
      <p:sp>
        <p:nvSpPr>
          <p:cNvPr id="10" name="TextBox 9">
            <a:extLst>
              <a:ext uri="{FF2B5EF4-FFF2-40B4-BE49-F238E27FC236}">
                <a16:creationId xmlns:a16="http://schemas.microsoft.com/office/drawing/2014/main" id="{70415959-0EB3-4100-AA73-2670616451AA}"/>
              </a:ext>
            </a:extLst>
          </p:cNvPr>
          <p:cNvSpPr txBox="1"/>
          <p:nvPr/>
        </p:nvSpPr>
        <p:spPr>
          <a:xfrm>
            <a:off x="4067175" y="1117024"/>
            <a:ext cx="7997826" cy="3139321"/>
          </a:xfrm>
          <a:prstGeom prst="rect">
            <a:avLst/>
          </a:prstGeom>
          <a:noFill/>
        </p:spPr>
        <p:txBody>
          <a:bodyPr wrap="square">
            <a:spAutoFit/>
          </a:bodyPr>
          <a:lstStyle/>
          <a:p>
            <a:pPr algn="just"/>
            <a:r>
              <a:rPr lang="en-US" dirty="0">
                <a:solidFill>
                  <a:srgbClr val="C9D1D9"/>
                </a:solidFill>
                <a:effectLst/>
                <a:latin typeface="Arial" panose="020B0604020202020204" pitchFamily="34" charset="0"/>
                <a:cs typeface="Arial" panose="020B0604020202020204" pitchFamily="34" charset="0"/>
              </a:rPr>
              <a:t>The minimum counts threshold was chosen based on the total UMI count graph, and not to be a strict filter based on the results received when trying with multiple filter thresholds.  The minimum genes threshold was chosen in a similar manner.</a:t>
            </a:r>
          </a:p>
          <a:p>
            <a:pPr algn="just"/>
            <a:endParaRPr lang="en-US" dirty="0">
              <a:solidFill>
                <a:srgbClr val="C9D1D9"/>
              </a:solidFill>
              <a:effectLst/>
              <a:latin typeface="Arial" panose="020B0604020202020204" pitchFamily="34" charset="0"/>
              <a:cs typeface="Arial" panose="020B0604020202020204" pitchFamily="34" charset="0"/>
            </a:endParaRPr>
          </a:p>
          <a:p>
            <a:pPr algn="just"/>
            <a:r>
              <a:rPr lang="en-US" dirty="0">
                <a:solidFill>
                  <a:srgbClr val="C9D1D9"/>
                </a:solidFill>
                <a:effectLst/>
                <a:latin typeface="Arial" panose="020B0604020202020204" pitchFamily="34" charset="0"/>
                <a:cs typeface="Arial" panose="020B0604020202020204" pitchFamily="34" charset="0"/>
              </a:rPr>
              <a:t>The maximum genes threshold was chosen to remove many doublets and </a:t>
            </a:r>
            <a:r>
              <a:rPr lang="en-US" dirty="0" err="1">
                <a:solidFill>
                  <a:srgbClr val="C9D1D9"/>
                </a:solidFill>
                <a:effectLst/>
                <a:latin typeface="Arial" panose="020B0604020202020204" pitchFamily="34" charset="0"/>
                <a:cs typeface="Arial" panose="020B0604020202020204" pitchFamily="34" charset="0"/>
              </a:rPr>
              <a:t>multiplets</a:t>
            </a:r>
            <a:r>
              <a:rPr lang="en-US" dirty="0">
                <a:solidFill>
                  <a:srgbClr val="C9D1D9"/>
                </a:solidFill>
                <a:effectLst/>
                <a:latin typeface="Arial" panose="020B0604020202020204" pitchFamily="34" charset="0"/>
                <a:cs typeface="Arial" panose="020B0604020202020204" pitchFamily="34" charset="0"/>
              </a:rPr>
              <a:t>, but still not be too strict to later affect the results. A similar logic was used for the mitochondrial percentage.</a:t>
            </a:r>
          </a:p>
          <a:p>
            <a:pPr algn="just"/>
            <a:endParaRPr lang="en-US" dirty="0">
              <a:solidFill>
                <a:srgbClr val="C9D1D9"/>
              </a:solidFill>
              <a:latin typeface="Arial" panose="020B0604020202020204" pitchFamily="34" charset="0"/>
              <a:cs typeface="Arial" panose="020B0604020202020204" pitchFamily="34" charset="0"/>
            </a:endParaRPr>
          </a:p>
          <a:p>
            <a:pPr algn="just"/>
            <a:r>
              <a:rPr lang="en-US" dirty="0">
                <a:solidFill>
                  <a:srgbClr val="C9D1D9"/>
                </a:solidFill>
                <a:effectLst/>
                <a:latin typeface="Arial" panose="020B0604020202020204" pitchFamily="34" charset="0"/>
                <a:cs typeface="Arial" panose="020B0604020202020204" pitchFamily="34" charset="0"/>
              </a:rPr>
              <a:t>The filters seem to mostly affect the control group, so the chosen values weren’t strict.</a:t>
            </a:r>
          </a:p>
        </p:txBody>
      </p:sp>
    </p:spTree>
    <p:extLst>
      <p:ext uri="{BB962C8B-B14F-4D97-AF65-F5344CB8AC3E}">
        <p14:creationId xmlns:p14="http://schemas.microsoft.com/office/powerpoint/2010/main" val="574080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8678C-62C0-4F3E-9CB7-0924FA6B1A25}"/>
              </a:ext>
            </a:extLst>
          </p:cNvPr>
          <p:cNvSpPr>
            <a:spLocks noGrp="1"/>
          </p:cNvSpPr>
          <p:nvPr>
            <p:ph type="title"/>
          </p:nvPr>
        </p:nvSpPr>
        <p:spPr>
          <a:xfrm>
            <a:off x="919119" y="247910"/>
            <a:ext cx="10353762" cy="970450"/>
          </a:xfrm>
        </p:spPr>
        <p:txBody>
          <a:bodyPr/>
          <a:lstStyle/>
          <a:p>
            <a:r>
              <a:rPr lang="en-US" b="1" dirty="0">
                <a:solidFill>
                  <a:srgbClr val="C9D1D9"/>
                </a:solidFill>
                <a:effectLst/>
                <a:latin typeface="Arial" panose="020B0604020202020204" pitchFamily="34" charset="0"/>
                <a:cs typeface="Arial" panose="020B0604020202020204" pitchFamily="34" charset="0"/>
              </a:rPr>
              <a:t>Integration &amp; clustering</a:t>
            </a:r>
            <a:endParaRPr lang="en-US"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585BF620-CFFD-4DD3-BE3B-AEB09272D1A7}"/>
              </a:ext>
            </a:extLst>
          </p:cNvPr>
          <p:cNvPicPr>
            <a:picLocks noChangeAspect="1"/>
          </p:cNvPicPr>
          <p:nvPr/>
        </p:nvPicPr>
        <p:blipFill>
          <a:blip r:embed="rId2"/>
          <a:stretch>
            <a:fillRect/>
          </a:stretch>
        </p:blipFill>
        <p:spPr>
          <a:xfrm>
            <a:off x="174096" y="1218360"/>
            <a:ext cx="4305024" cy="2308324"/>
          </a:xfrm>
          <a:prstGeom prst="rect">
            <a:avLst/>
          </a:prstGeom>
        </p:spPr>
      </p:pic>
      <p:pic>
        <p:nvPicPr>
          <p:cNvPr id="17" name="Picture 16">
            <a:extLst>
              <a:ext uri="{FF2B5EF4-FFF2-40B4-BE49-F238E27FC236}">
                <a16:creationId xmlns:a16="http://schemas.microsoft.com/office/drawing/2014/main" id="{7DBEC44B-E976-4859-BABC-3D4277BAEC37}"/>
              </a:ext>
            </a:extLst>
          </p:cNvPr>
          <p:cNvPicPr>
            <a:picLocks noChangeAspect="1"/>
          </p:cNvPicPr>
          <p:nvPr/>
        </p:nvPicPr>
        <p:blipFill>
          <a:blip r:embed="rId3"/>
          <a:stretch>
            <a:fillRect/>
          </a:stretch>
        </p:blipFill>
        <p:spPr>
          <a:xfrm>
            <a:off x="5287371" y="1218359"/>
            <a:ext cx="6659096" cy="2308325"/>
          </a:xfrm>
          <a:prstGeom prst="rect">
            <a:avLst/>
          </a:prstGeom>
        </p:spPr>
      </p:pic>
      <p:pic>
        <p:nvPicPr>
          <p:cNvPr id="19" name="Picture 18">
            <a:extLst>
              <a:ext uri="{FF2B5EF4-FFF2-40B4-BE49-F238E27FC236}">
                <a16:creationId xmlns:a16="http://schemas.microsoft.com/office/drawing/2014/main" id="{AA7E5EA6-1638-4475-82CB-2AEAD80AF9CC}"/>
              </a:ext>
            </a:extLst>
          </p:cNvPr>
          <p:cNvPicPr>
            <a:picLocks noChangeAspect="1"/>
          </p:cNvPicPr>
          <p:nvPr/>
        </p:nvPicPr>
        <p:blipFill>
          <a:blip r:embed="rId4"/>
          <a:stretch>
            <a:fillRect/>
          </a:stretch>
        </p:blipFill>
        <p:spPr>
          <a:xfrm>
            <a:off x="2232653" y="3779875"/>
            <a:ext cx="3316827" cy="2670817"/>
          </a:xfrm>
          <a:prstGeom prst="rect">
            <a:avLst/>
          </a:prstGeom>
        </p:spPr>
      </p:pic>
      <p:pic>
        <p:nvPicPr>
          <p:cNvPr id="21" name="Picture 20">
            <a:extLst>
              <a:ext uri="{FF2B5EF4-FFF2-40B4-BE49-F238E27FC236}">
                <a16:creationId xmlns:a16="http://schemas.microsoft.com/office/drawing/2014/main" id="{64B97E16-301F-4F30-A819-3B5B59D4391B}"/>
              </a:ext>
            </a:extLst>
          </p:cNvPr>
          <p:cNvPicPr>
            <a:picLocks noChangeAspect="1"/>
          </p:cNvPicPr>
          <p:nvPr/>
        </p:nvPicPr>
        <p:blipFill>
          <a:blip r:embed="rId5"/>
          <a:stretch>
            <a:fillRect/>
          </a:stretch>
        </p:blipFill>
        <p:spPr>
          <a:xfrm>
            <a:off x="5688625" y="3779875"/>
            <a:ext cx="3567518" cy="2670817"/>
          </a:xfrm>
          <a:prstGeom prst="rect">
            <a:avLst/>
          </a:prstGeom>
        </p:spPr>
      </p:pic>
    </p:spTree>
    <p:extLst>
      <p:ext uri="{BB962C8B-B14F-4D97-AF65-F5344CB8AC3E}">
        <p14:creationId xmlns:p14="http://schemas.microsoft.com/office/powerpoint/2010/main" val="2459403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8678C-62C0-4F3E-9CB7-0924FA6B1A25}"/>
              </a:ext>
            </a:extLst>
          </p:cNvPr>
          <p:cNvSpPr>
            <a:spLocks noGrp="1"/>
          </p:cNvSpPr>
          <p:nvPr>
            <p:ph type="title"/>
          </p:nvPr>
        </p:nvSpPr>
        <p:spPr>
          <a:xfrm>
            <a:off x="919119" y="247910"/>
            <a:ext cx="10353762" cy="970450"/>
          </a:xfrm>
        </p:spPr>
        <p:txBody>
          <a:bodyPr/>
          <a:lstStyle/>
          <a:p>
            <a:r>
              <a:rPr lang="en-US" b="1" dirty="0">
                <a:solidFill>
                  <a:srgbClr val="C9D1D9"/>
                </a:solidFill>
                <a:effectLst/>
                <a:latin typeface="Arial" panose="020B0604020202020204" pitchFamily="34" charset="0"/>
                <a:cs typeface="Arial" panose="020B0604020202020204" pitchFamily="34" charset="0"/>
              </a:rPr>
              <a:t>Integration &amp; clustering</a:t>
            </a:r>
            <a:endParaRPr lang="en-US" dirty="0"/>
          </a:p>
        </p:txBody>
      </p:sp>
      <p:pic>
        <p:nvPicPr>
          <p:cNvPr id="11" name="Picture 10">
            <a:extLst>
              <a:ext uri="{FF2B5EF4-FFF2-40B4-BE49-F238E27FC236}">
                <a16:creationId xmlns:a16="http://schemas.microsoft.com/office/drawing/2014/main" id="{0080E8A5-F9D2-451A-B266-C28F2C403A7F}"/>
              </a:ext>
            </a:extLst>
          </p:cNvPr>
          <p:cNvPicPr>
            <a:picLocks noChangeAspect="1"/>
          </p:cNvPicPr>
          <p:nvPr/>
        </p:nvPicPr>
        <p:blipFill>
          <a:blip r:embed="rId2"/>
          <a:stretch>
            <a:fillRect/>
          </a:stretch>
        </p:blipFill>
        <p:spPr>
          <a:xfrm>
            <a:off x="302809" y="1218360"/>
            <a:ext cx="6046232" cy="5187595"/>
          </a:xfrm>
          <a:prstGeom prst="rect">
            <a:avLst/>
          </a:prstGeom>
        </p:spPr>
      </p:pic>
      <p:pic>
        <p:nvPicPr>
          <p:cNvPr id="14" name="Picture 13">
            <a:extLst>
              <a:ext uri="{FF2B5EF4-FFF2-40B4-BE49-F238E27FC236}">
                <a16:creationId xmlns:a16="http://schemas.microsoft.com/office/drawing/2014/main" id="{1850B66B-F54D-4017-B528-5B9030E847EA}"/>
              </a:ext>
            </a:extLst>
          </p:cNvPr>
          <p:cNvPicPr>
            <a:picLocks noChangeAspect="1"/>
          </p:cNvPicPr>
          <p:nvPr/>
        </p:nvPicPr>
        <p:blipFill>
          <a:blip r:embed="rId3"/>
          <a:stretch>
            <a:fillRect/>
          </a:stretch>
        </p:blipFill>
        <p:spPr>
          <a:xfrm>
            <a:off x="6784764" y="1218360"/>
            <a:ext cx="4973040" cy="5188445"/>
          </a:xfrm>
          <a:prstGeom prst="rect">
            <a:avLst/>
          </a:prstGeom>
        </p:spPr>
      </p:pic>
    </p:spTree>
    <p:extLst>
      <p:ext uri="{BB962C8B-B14F-4D97-AF65-F5344CB8AC3E}">
        <p14:creationId xmlns:p14="http://schemas.microsoft.com/office/powerpoint/2010/main" val="34774242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8678C-62C0-4F3E-9CB7-0924FA6B1A25}"/>
              </a:ext>
            </a:extLst>
          </p:cNvPr>
          <p:cNvSpPr>
            <a:spLocks noGrp="1"/>
          </p:cNvSpPr>
          <p:nvPr>
            <p:ph type="title"/>
          </p:nvPr>
        </p:nvSpPr>
        <p:spPr>
          <a:xfrm>
            <a:off x="919119" y="247910"/>
            <a:ext cx="10353762" cy="970450"/>
          </a:xfrm>
        </p:spPr>
        <p:txBody>
          <a:bodyPr/>
          <a:lstStyle/>
          <a:p>
            <a:r>
              <a:rPr lang="en-US" b="1" dirty="0">
                <a:solidFill>
                  <a:srgbClr val="C9D1D9"/>
                </a:solidFill>
                <a:effectLst/>
                <a:latin typeface="Arial" panose="020B0604020202020204" pitchFamily="34" charset="0"/>
                <a:cs typeface="Arial" panose="020B0604020202020204" pitchFamily="34" charset="0"/>
              </a:rPr>
              <a:t>Cell type annotation</a:t>
            </a:r>
            <a:endParaRPr lang="en-US"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2354A53B-33A7-49AC-8902-18B299DEAFE7}"/>
              </a:ext>
            </a:extLst>
          </p:cNvPr>
          <p:cNvSpPr txBox="1"/>
          <p:nvPr/>
        </p:nvSpPr>
        <p:spPr>
          <a:xfrm>
            <a:off x="5963785" y="1109135"/>
            <a:ext cx="6096000" cy="1815882"/>
          </a:xfrm>
          <a:prstGeom prst="rect">
            <a:avLst/>
          </a:prstGeom>
          <a:noFill/>
        </p:spPr>
        <p:txBody>
          <a:bodyPr wrap="square">
            <a:spAutoFit/>
          </a:bodyPr>
          <a:lstStyle/>
          <a:p>
            <a:r>
              <a:rPr lang="en-US" sz="1400" b="1" dirty="0">
                <a:solidFill>
                  <a:srgbClr val="C9D1D9"/>
                </a:solidFill>
                <a:effectLst/>
                <a:latin typeface="Arial" panose="020B0604020202020204" pitchFamily="34" charset="0"/>
                <a:cs typeface="Arial" panose="020B0604020202020204" pitchFamily="34" charset="0"/>
              </a:rPr>
              <a:t>Common immune cell markers:</a:t>
            </a:r>
            <a:endParaRPr lang="en-US" sz="1400" b="0" dirty="0">
              <a:solidFill>
                <a:srgbClr val="BBBEBF"/>
              </a:solidFill>
              <a:effectLst/>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b="1" dirty="0">
                <a:solidFill>
                  <a:srgbClr val="C9D1D9"/>
                </a:solidFill>
                <a:effectLst/>
                <a:latin typeface="Arial" panose="020B0604020202020204" pitchFamily="34" charset="0"/>
                <a:cs typeface="Arial" panose="020B0604020202020204" pitchFamily="34" charset="0"/>
              </a:rPr>
              <a:t>T cells</a:t>
            </a:r>
            <a:r>
              <a:rPr lang="en-US" sz="1400" b="0" dirty="0">
                <a:solidFill>
                  <a:srgbClr val="BBBEBF"/>
                </a:solidFill>
                <a:effectLst/>
                <a:latin typeface="Arial" panose="020B0604020202020204" pitchFamily="34" charset="0"/>
                <a:cs typeface="Arial" panose="020B0604020202020204" pitchFamily="34" charset="0"/>
              </a:rPr>
              <a:t>: CD3D, CD3E, CD3G</a:t>
            </a:r>
          </a:p>
          <a:p>
            <a:pPr marL="285750" indent="-285750">
              <a:buFont typeface="Arial" panose="020B0604020202020204" pitchFamily="34" charset="0"/>
              <a:buChar char="•"/>
            </a:pPr>
            <a:r>
              <a:rPr lang="en-US" sz="1400" b="1" dirty="0">
                <a:solidFill>
                  <a:srgbClr val="C9D1D9"/>
                </a:solidFill>
                <a:effectLst/>
                <a:latin typeface="Arial" panose="020B0604020202020204" pitchFamily="34" charset="0"/>
                <a:cs typeface="Arial" panose="020B0604020202020204" pitchFamily="34" charset="0"/>
              </a:rPr>
              <a:t>B cells</a:t>
            </a:r>
            <a:r>
              <a:rPr lang="en-US" sz="1400" b="0" dirty="0">
                <a:solidFill>
                  <a:srgbClr val="BBBEBF"/>
                </a:solidFill>
                <a:effectLst/>
                <a:latin typeface="Arial" panose="020B0604020202020204" pitchFamily="34" charset="0"/>
                <a:cs typeface="Arial" panose="020B0604020202020204" pitchFamily="34" charset="0"/>
              </a:rPr>
              <a:t>: CD79A, CD79B, MS4A1 (CD20)</a:t>
            </a:r>
          </a:p>
          <a:p>
            <a:pPr marL="285750" indent="-285750">
              <a:buFont typeface="Arial" panose="020B0604020202020204" pitchFamily="34" charset="0"/>
              <a:buChar char="•"/>
            </a:pPr>
            <a:r>
              <a:rPr lang="en-US" sz="1400" b="1" dirty="0">
                <a:solidFill>
                  <a:srgbClr val="C9D1D9"/>
                </a:solidFill>
                <a:effectLst/>
                <a:latin typeface="Arial" panose="020B0604020202020204" pitchFamily="34" charset="0"/>
                <a:cs typeface="Arial" panose="020B0604020202020204" pitchFamily="34" charset="0"/>
              </a:rPr>
              <a:t>NK cells</a:t>
            </a:r>
            <a:r>
              <a:rPr lang="en-US" sz="1400" b="0" dirty="0">
                <a:solidFill>
                  <a:srgbClr val="BBBEBF"/>
                </a:solidFill>
                <a:effectLst/>
                <a:latin typeface="Arial" panose="020B0604020202020204" pitchFamily="34" charset="0"/>
                <a:cs typeface="Arial" panose="020B0604020202020204" pitchFamily="34" charset="0"/>
              </a:rPr>
              <a:t>: NKG7, GNLY, KLRD1</a:t>
            </a:r>
          </a:p>
          <a:p>
            <a:pPr marL="285750" indent="-285750">
              <a:buFont typeface="Arial" panose="020B0604020202020204" pitchFamily="34" charset="0"/>
              <a:buChar char="•"/>
            </a:pPr>
            <a:r>
              <a:rPr lang="en-US" sz="1400" b="1" dirty="0">
                <a:solidFill>
                  <a:srgbClr val="C9D1D9"/>
                </a:solidFill>
                <a:effectLst/>
                <a:latin typeface="Arial" panose="020B0604020202020204" pitchFamily="34" charset="0"/>
                <a:cs typeface="Arial" panose="020B0604020202020204" pitchFamily="34" charset="0"/>
              </a:rPr>
              <a:t>Monocytes/Macrophages</a:t>
            </a:r>
            <a:r>
              <a:rPr lang="en-US" sz="1400" b="0" dirty="0">
                <a:solidFill>
                  <a:srgbClr val="BBBEBF"/>
                </a:solidFill>
                <a:effectLst/>
                <a:latin typeface="Arial" panose="020B0604020202020204" pitchFamily="34" charset="0"/>
                <a:cs typeface="Arial" panose="020B0604020202020204" pitchFamily="34" charset="0"/>
              </a:rPr>
              <a:t>: CD14, CD68, LYZ, FCGR3A (CD16)</a:t>
            </a:r>
          </a:p>
          <a:p>
            <a:pPr marL="285750" indent="-285750">
              <a:buFont typeface="Arial" panose="020B0604020202020204" pitchFamily="34" charset="0"/>
              <a:buChar char="•"/>
            </a:pPr>
            <a:r>
              <a:rPr lang="en-US" sz="1400" b="1" dirty="0">
                <a:solidFill>
                  <a:srgbClr val="C9D1D9"/>
                </a:solidFill>
                <a:effectLst/>
                <a:latin typeface="Arial" panose="020B0604020202020204" pitchFamily="34" charset="0"/>
                <a:cs typeface="Arial" panose="020B0604020202020204" pitchFamily="34" charset="0"/>
              </a:rPr>
              <a:t>Dendritic cells</a:t>
            </a:r>
            <a:r>
              <a:rPr lang="en-US" sz="1400" b="0" dirty="0">
                <a:solidFill>
                  <a:srgbClr val="BBBEBF"/>
                </a:solidFill>
                <a:effectLst/>
                <a:latin typeface="Arial" panose="020B0604020202020204" pitchFamily="34" charset="0"/>
                <a:cs typeface="Arial" panose="020B0604020202020204" pitchFamily="34" charset="0"/>
              </a:rPr>
              <a:t>: CD1C, FCER1A, CLEC9A</a:t>
            </a:r>
          </a:p>
          <a:p>
            <a:pPr marL="285750" indent="-285750">
              <a:buFont typeface="Arial" panose="020B0604020202020204" pitchFamily="34" charset="0"/>
              <a:buChar char="•"/>
            </a:pPr>
            <a:r>
              <a:rPr lang="en-US" sz="1400" b="1" dirty="0">
                <a:solidFill>
                  <a:srgbClr val="C9D1D9"/>
                </a:solidFill>
                <a:effectLst/>
                <a:latin typeface="Arial" panose="020B0604020202020204" pitchFamily="34" charset="0"/>
                <a:cs typeface="Arial" panose="020B0604020202020204" pitchFamily="34" charset="0"/>
              </a:rPr>
              <a:t>Neutrophils</a:t>
            </a:r>
            <a:r>
              <a:rPr lang="en-US" sz="1400" b="0" dirty="0">
                <a:solidFill>
                  <a:srgbClr val="BBBEBF"/>
                </a:solidFill>
                <a:effectLst/>
                <a:latin typeface="Arial" panose="020B0604020202020204" pitchFamily="34" charset="0"/>
                <a:cs typeface="Arial" panose="020B0604020202020204" pitchFamily="34" charset="0"/>
              </a:rPr>
              <a:t>: S100A8, S100A9, CSF3R</a:t>
            </a:r>
          </a:p>
          <a:p>
            <a:pPr marL="285750" indent="-285750">
              <a:buFont typeface="Arial" panose="020B0604020202020204" pitchFamily="34" charset="0"/>
              <a:buChar char="•"/>
            </a:pPr>
            <a:r>
              <a:rPr lang="en-US" sz="1400" b="1" dirty="0">
                <a:solidFill>
                  <a:srgbClr val="C9D1D9"/>
                </a:solidFill>
                <a:effectLst/>
                <a:latin typeface="Arial" panose="020B0604020202020204" pitchFamily="34" charset="0"/>
                <a:cs typeface="Arial" panose="020B0604020202020204" pitchFamily="34" charset="0"/>
              </a:rPr>
              <a:t>Plasma cells</a:t>
            </a:r>
            <a:r>
              <a:rPr lang="en-US" sz="1400" b="0" dirty="0">
                <a:solidFill>
                  <a:srgbClr val="BBBEBF"/>
                </a:solidFill>
                <a:effectLst/>
                <a:latin typeface="Arial" panose="020B0604020202020204" pitchFamily="34" charset="0"/>
                <a:cs typeface="Arial" panose="020B0604020202020204" pitchFamily="34" charset="0"/>
              </a:rPr>
              <a:t>: IGHA1, IGHG1, MZB1</a:t>
            </a:r>
          </a:p>
        </p:txBody>
      </p:sp>
      <p:pic>
        <p:nvPicPr>
          <p:cNvPr id="18" name="Picture 17">
            <a:extLst>
              <a:ext uri="{FF2B5EF4-FFF2-40B4-BE49-F238E27FC236}">
                <a16:creationId xmlns:a16="http://schemas.microsoft.com/office/drawing/2014/main" id="{91989139-767D-4C66-ACA5-9333F7F06FC4}"/>
              </a:ext>
            </a:extLst>
          </p:cNvPr>
          <p:cNvPicPr>
            <a:picLocks noChangeAspect="1"/>
          </p:cNvPicPr>
          <p:nvPr/>
        </p:nvPicPr>
        <p:blipFill>
          <a:blip r:embed="rId2"/>
          <a:stretch>
            <a:fillRect/>
          </a:stretch>
        </p:blipFill>
        <p:spPr>
          <a:xfrm>
            <a:off x="329811" y="1075822"/>
            <a:ext cx="5458514" cy="5534268"/>
          </a:xfrm>
          <a:prstGeom prst="rect">
            <a:avLst/>
          </a:prstGeom>
        </p:spPr>
      </p:pic>
      <p:pic>
        <p:nvPicPr>
          <p:cNvPr id="20" name="Picture 19">
            <a:extLst>
              <a:ext uri="{FF2B5EF4-FFF2-40B4-BE49-F238E27FC236}">
                <a16:creationId xmlns:a16="http://schemas.microsoft.com/office/drawing/2014/main" id="{CE9FFE76-6751-4BB6-A531-9D3D49F44F9D}"/>
              </a:ext>
            </a:extLst>
          </p:cNvPr>
          <p:cNvPicPr>
            <a:picLocks noChangeAspect="1"/>
          </p:cNvPicPr>
          <p:nvPr/>
        </p:nvPicPr>
        <p:blipFill>
          <a:blip r:embed="rId3"/>
          <a:stretch>
            <a:fillRect/>
          </a:stretch>
        </p:blipFill>
        <p:spPr>
          <a:xfrm>
            <a:off x="6096000" y="3012875"/>
            <a:ext cx="5219097" cy="3597215"/>
          </a:xfrm>
          <a:prstGeom prst="rect">
            <a:avLst/>
          </a:prstGeom>
        </p:spPr>
      </p:pic>
    </p:spTree>
    <p:extLst>
      <p:ext uri="{BB962C8B-B14F-4D97-AF65-F5344CB8AC3E}">
        <p14:creationId xmlns:p14="http://schemas.microsoft.com/office/powerpoint/2010/main" val="30966981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8678C-62C0-4F3E-9CB7-0924FA6B1A25}"/>
              </a:ext>
            </a:extLst>
          </p:cNvPr>
          <p:cNvSpPr>
            <a:spLocks noGrp="1"/>
          </p:cNvSpPr>
          <p:nvPr>
            <p:ph type="title"/>
          </p:nvPr>
        </p:nvSpPr>
        <p:spPr>
          <a:xfrm>
            <a:off x="919119" y="247910"/>
            <a:ext cx="10353762" cy="970450"/>
          </a:xfrm>
        </p:spPr>
        <p:txBody>
          <a:bodyPr/>
          <a:lstStyle/>
          <a:p>
            <a:r>
              <a:rPr lang="en-US" b="1" dirty="0">
                <a:solidFill>
                  <a:srgbClr val="C9D1D9"/>
                </a:solidFill>
                <a:effectLst/>
                <a:latin typeface="Arial" panose="020B0604020202020204" pitchFamily="34" charset="0"/>
                <a:cs typeface="Arial" panose="020B0604020202020204" pitchFamily="34" charset="0"/>
              </a:rPr>
              <a:t>Cell type annotation</a:t>
            </a:r>
            <a:endParaRPr lang="en-US" dirty="0"/>
          </a:p>
        </p:txBody>
      </p:sp>
      <p:pic>
        <p:nvPicPr>
          <p:cNvPr id="10" name="Picture 9">
            <a:extLst>
              <a:ext uri="{FF2B5EF4-FFF2-40B4-BE49-F238E27FC236}">
                <a16:creationId xmlns:a16="http://schemas.microsoft.com/office/drawing/2014/main" id="{9FF9A869-BBCC-4697-9937-7CC29E647143}"/>
              </a:ext>
            </a:extLst>
          </p:cNvPr>
          <p:cNvPicPr>
            <a:picLocks noChangeAspect="1"/>
          </p:cNvPicPr>
          <p:nvPr/>
        </p:nvPicPr>
        <p:blipFill rotWithShape="1">
          <a:blip r:embed="rId2"/>
          <a:srcRect r="64583"/>
          <a:stretch/>
        </p:blipFill>
        <p:spPr>
          <a:xfrm>
            <a:off x="347134" y="1450726"/>
            <a:ext cx="6153532" cy="4946576"/>
          </a:xfrm>
          <a:prstGeom prst="rect">
            <a:avLst/>
          </a:prstGeom>
        </p:spPr>
      </p:pic>
      <p:pic>
        <p:nvPicPr>
          <p:cNvPr id="12" name="Picture 11">
            <a:extLst>
              <a:ext uri="{FF2B5EF4-FFF2-40B4-BE49-F238E27FC236}">
                <a16:creationId xmlns:a16="http://schemas.microsoft.com/office/drawing/2014/main" id="{093D2171-B3DD-412E-B2BB-536B91B0E35C}"/>
              </a:ext>
            </a:extLst>
          </p:cNvPr>
          <p:cNvPicPr>
            <a:picLocks noChangeAspect="1"/>
          </p:cNvPicPr>
          <p:nvPr/>
        </p:nvPicPr>
        <p:blipFill>
          <a:blip r:embed="rId3"/>
          <a:stretch>
            <a:fillRect/>
          </a:stretch>
        </p:blipFill>
        <p:spPr>
          <a:xfrm>
            <a:off x="6924922" y="1450726"/>
            <a:ext cx="4911904" cy="4946576"/>
          </a:xfrm>
          <a:prstGeom prst="rect">
            <a:avLst/>
          </a:prstGeom>
        </p:spPr>
      </p:pic>
    </p:spTree>
    <p:extLst>
      <p:ext uri="{BB962C8B-B14F-4D97-AF65-F5344CB8AC3E}">
        <p14:creationId xmlns:p14="http://schemas.microsoft.com/office/powerpoint/2010/main" val="31077601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8678C-62C0-4F3E-9CB7-0924FA6B1A25}"/>
              </a:ext>
            </a:extLst>
          </p:cNvPr>
          <p:cNvSpPr>
            <a:spLocks noGrp="1"/>
          </p:cNvSpPr>
          <p:nvPr>
            <p:ph type="title"/>
          </p:nvPr>
        </p:nvSpPr>
        <p:spPr>
          <a:xfrm>
            <a:off x="919119" y="247910"/>
            <a:ext cx="10353762" cy="970450"/>
          </a:xfrm>
        </p:spPr>
        <p:txBody>
          <a:bodyPr/>
          <a:lstStyle/>
          <a:p>
            <a:r>
              <a:rPr lang="en-US" b="1" dirty="0">
                <a:solidFill>
                  <a:srgbClr val="C9D1D9"/>
                </a:solidFill>
                <a:effectLst/>
                <a:latin typeface="Arial" panose="020B0604020202020204" pitchFamily="34" charset="0"/>
                <a:cs typeface="Arial" panose="020B0604020202020204" pitchFamily="34" charset="0"/>
              </a:rPr>
              <a:t>Cell type annotation</a:t>
            </a:r>
            <a:endParaRPr lang="en-US" dirty="0"/>
          </a:p>
        </p:txBody>
      </p:sp>
      <p:pic>
        <p:nvPicPr>
          <p:cNvPr id="7" name="Picture 6">
            <a:extLst>
              <a:ext uri="{FF2B5EF4-FFF2-40B4-BE49-F238E27FC236}">
                <a16:creationId xmlns:a16="http://schemas.microsoft.com/office/drawing/2014/main" id="{54F46665-B101-492C-9E0B-09DFB623FFEA}"/>
              </a:ext>
            </a:extLst>
          </p:cNvPr>
          <p:cNvPicPr>
            <a:picLocks noChangeAspect="1"/>
          </p:cNvPicPr>
          <p:nvPr/>
        </p:nvPicPr>
        <p:blipFill rotWithShape="1">
          <a:blip r:embed="rId2"/>
          <a:srcRect l="35347"/>
          <a:stretch/>
        </p:blipFill>
        <p:spPr>
          <a:xfrm>
            <a:off x="299207" y="1638432"/>
            <a:ext cx="11593585" cy="5105267"/>
          </a:xfrm>
          <a:prstGeom prst="rect">
            <a:avLst/>
          </a:prstGeom>
        </p:spPr>
      </p:pic>
      <p:sp>
        <p:nvSpPr>
          <p:cNvPr id="8" name="TextBox 7">
            <a:extLst>
              <a:ext uri="{FF2B5EF4-FFF2-40B4-BE49-F238E27FC236}">
                <a16:creationId xmlns:a16="http://schemas.microsoft.com/office/drawing/2014/main" id="{659478F3-02DF-4CA2-A020-C0B99FA5BF1F}"/>
              </a:ext>
            </a:extLst>
          </p:cNvPr>
          <p:cNvSpPr txBox="1"/>
          <p:nvPr/>
        </p:nvSpPr>
        <p:spPr>
          <a:xfrm>
            <a:off x="319917" y="992101"/>
            <a:ext cx="11525250" cy="646331"/>
          </a:xfrm>
          <a:prstGeom prst="rect">
            <a:avLst/>
          </a:prstGeom>
          <a:noFill/>
        </p:spPr>
        <p:txBody>
          <a:bodyPr wrap="square" rtlCol="0">
            <a:spAutoFit/>
          </a:bodyPr>
          <a:lstStyle/>
          <a:p>
            <a:r>
              <a:rPr lang="en-US" dirty="0">
                <a:solidFill>
                  <a:srgbClr val="BBBEBF"/>
                </a:solidFill>
                <a:latin typeface="Arial" panose="020B0604020202020204" pitchFamily="34" charset="0"/>
                <a:cs typeface="Arial" panose="020B0604020202020204" pitchFamily="34" charset="0"/>
              </a:rPr>
              <a:t>Manual marker-based identification seemed to distinguish NK cells, while resulting in similar values for other cell types as the Azimuth prediction. For this reason the manual identification was used for the rest of the analysis.</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06283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8678C-62C0-4F3E-9CB7-0924FA6B1A25}"/>
              </a:ext>
            </a:extLst>
          </p:cNvPr>
          <p:cNvSpPr>
            <a:spLocks noGrp="1"/>
          </p:cNvSpPr>
          <p:nvPr>
            <p:ph type="title"/>
          </p:nvPr>
        </p:nvSpPr>
        <p:spPr>
          <a:xfrm>
            <a:off x="919119" y="247910"/>
            <a:ext cx="10353762" cy="970450"/>
          </a:xfrm>
        </p:spPr>
        <p:txBody>
          <a:bodyPr/>
          <a:lstStyle/>
          <a:p>
            <a:r>
              <a:rPr lang="en-US" b="1" dirty="0">
                <a:solidFill>
                  <a:srgbClr val="C9D1D9"/>
                </a:solidFill>
                <a:effectLst/>
                <a:latin typeface="Arial" panose="020B0604020202020204" pitchFamily="34" charset="0"/>
                <a:cs typeface="Arial" panose="020B0604020202020204" pitchFamily="34" charset="0"/>
              </a:rPr>
              <a:t>Composition Analysis</a:t>
            </a:r>
            <a:endParaRPr lang="en-US"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977C8632-E343-4E17-A619-8C97DDB94938}"/>
              </a:ext>
            </a:extLst>
          </p:cNvPr>
          <p:cNvPicPr>
            <a:picLocks noChangeAspect="1"/>
          </p:cNvPicPr>
          <p:nvPr/>
        </p:nvPicPr>
        <p:blipFill>
          <a:blip r:embed="rId2"/>
          <a:stretch>
            <a:fillRect/>
          </a:stretch>
        </p:blipFill>
        <p:spPr>
          <a:xfrm>
            <a:off x="1206720" y="2495858"/>
            <a:ext cx="9778560" cy="4114232"/>
          </a:xfrm>
          <a:prstGeom prst="rect">
            <a:avLst/>
          </a:prstGeom>
        </p:spPr>
      </p:pic>
      <p:pic>
        <p:nvPicPr>
          <p:cNvPr id="8" name="Picture 7">
            <a:extLst>
              <a:ext uri="{FF2B5EF4-FFF2-40B4-BE49-F238E27FC236}">
                <a16:creationId xmlns:a16="http://schemas.microsoft.com/office/drawing/2014/main" id="{A8EF9E39-A90C-425D-B431-E943E026833C}"/>
              </a:ext>
            </a:extLst>
          </p:cNvPr>
          <p:cNvPicPr>
            <a:picLocks noChangeAspect="1"/>
          </p:cNvPicPr>
          <p:nvPr/>
        </p:nvPicPr>
        <p:blipFill>
          <a:blip r:embed="rId3"/>
          <a:stretch>
            <a:fillRect/>
          </a:stretch>
        </p:blipFill>
        <p:spPr>
          <a:xfrm>
            <a:off x="542150" y="1138417"/>
            <a:ext cx="11107700" cy="1257475"/>
          </a:xfrm>
          <a:prstGeom prst="rect">
            <a:avLst/>
          </a:prstGeom>
        </p:spPr>
      </p:pic>
    </p:spTree>
    <p:extLst>
      <p:ext uri="{BB962C8B-B14F-4D97-AF65-F5344CB8AC3E}">
        <p14:creationId xmlns:p14="http://schemas.microsoft.com/office/powerpoint/2010/main" val="18561915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8678C-62C0-4F3E-9CB7-0924FA6B1A25}"/>
              </a:ext>
            </a:extLst>
          </p:cNvPr>
          <p:cNvSpPr>
            <a:spLocks noGrp="1"/>
          </p:cNvSpPr>
          <p:nvPr>
            <p:ph type="title"/>
          </p:nvPr>
        </p:nvSpPr>
        <p:spPr>
          <a:xfrm>
            <a:off x="919119" y="247910"/>
            <a:ext cx="10353762" cy="970450"/>
          </a:xfrm>
        </p:spPr>
        <p:txBody>
          <a:bodyPr/>
          <a:lstStyle/>
          <a:p>
            <a:r>
              <a:rPr lang="en-US" b="1" dirty="0">
                <a:solidFill>
                  <a:srgbClr val="C9D1D9"/>
                </a:solidFill>
                <a:effectLst/>
                <a:latin typeface="Arial" panose="020B0604020202020204" pitchFamily="34" charset="0"/>
                <a:cs typeface="Arial" panose="020B0604020202020204" pitchFamily="34" charset="0"/>
              </a:rPr>
              <a:t>Composition Analysis</a:t>
            </a:r>
            <a:endParaRPr lang="en-US"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BCD32E03-8EC1-4323-8C51-272ED3301B55}"/>
              </a:ext>
            </a:extLst>
          </p:cNvPr>
          <p:cNvPicPr>
            <a:picLocks noChangeAspect="1"/>
          </p:cNvPicPr>
          <p:nvPr/>
        </p:nvPicPr>
        <p:blipFill>
          <a:blip r:embed="rId2"/>
          <a:stretch>
            <a:fillRect/>
          </a:stretch>
        </p:blipFill>
        <p:spPr>
          <a:xfrm>
            <a:off x="118109" y="1218360"/>
            <a:ext cx="5184947" cy="4431426"/>
          </a:xfrm>
          <a:prstGeom prst="rect">
            <a:avLst/>
          </a:prstGeom>
        </p:spPr>
      </p:pic>
      <p:pic>
        <p:nvPicPr>
          <p:cNvPr id="6" name="Picture 5">
            <a:extLst>
              <a:ext uri="{FF2B5EF4-FFF2-40B4-BE49-F238E27FC236}">
                <a16:creationId xmlns:a16="http://schemas.microsoft.com/office/drawing/2014/main" id="{391CB1EA-F4FD-4BF1-8F06-6737219D98D4}"/>
              </a:ext>
            </a:extLst>
          </p:cNvPr>
          <p:cNvPicPr>
            <a:picLocks noChangeAspect="1"/>
          </p:cNvPicPr>
          <p:nvPr/>
        </p:nvPicPr>
        <p:blipFill>
          <a:blip r:embed="rId3"/>
          <a:stretch>
            <a:fillRect/>
          </a:stretch>
        </p:blipFill>
        <p:spPr>
          <a:xfrm>
            <a:off x="5441578" y="1788712"/>
            <a:ext cx="6632313" cy="3280575"/>
          </a:xfrm>
          <a:prstGeom prst="rect">
            <a:avLst/>
          </a:prstGeom>
        </p:spPr>
      </p:pic>
    </p:spTree>
    <p:extLst>
      <p:ext uri="{BB962C8B-B14F-4D97-AF65-F5344CB8AC3E}">
        <p14:creationId xmlns:p14="http://schemas.microsoft.com/office/powerpoint/2010/main" val="21200539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8678C-62C0-4F3E-9CB7-0924FA6B1A25}"/>
              </a:ext>
            </a:extLst>
          </p:cNvPr>
          <p:cNvSpPr>
            <a:spLocks noGrp="1"/>
          </p:cNvSpPr>
          <p:nvPr>
            <p:ph type="title"/>
          </p:nvPr>
        </p:nvSpPr>
        <p:spPr>
          <a:xfrm>
            <a:off x="919119" y="247910"/>
            <a:ext cx="10353762" cy="970450"/>
          </a:xfrm>
        </p:spPr>
        <p:txBody>
          <a:bodyPr/>
          <a:lstStyle/>
          <a:p>
            <a:r>
              <a:rPr lang="en-US" b="1" dirty="0">
                <a:solidFill>
                  <a:srgbClr val="C9D1D9"/>
                </a:solidFill>
                <a:effectLst/>
                <a:latin typeface="Arial" panose="020B0604020202020204" pitchFamily="34" charset="0"/>
                <a:cs typeface="Arial" panose="020B0604020202020204" pitchFamily="34" charset="0"/>
              </a:rPr>
              <a:t>Differential Expression</a:t>
            </a:r>
            <a:endParaRPr lang="en-US"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E9DEB6D8-01E2-4126-BE93-2444E8AA0E42}"/>
              </a:ext>
            </a:extLst>
          </p:cNvPr>
          <p:cNvPicPr>
            <a:picLocks noChangeAspect="1"/>
          </p:cNvPicPr>
          <p:nvPr/>
        </p:nvPicPr>
        <p:blipFill>
          <a:blip r:embed="rId2"/>
          <a:stretch>
            <a:fillRect/>
          </a:stretch>
        </p:blipFill>
        <p:spPr>
          <a:xfrm>
            <a:off x="1562099" y="1149927"/>
            <a:ext cx="9067801" cy="2435316"/>
          </a:xfrm>
          <a:prstGeom prst="rect">
            <a:avLst/>
          </a:prstGeom>
        </p:spPr>
      </p:pic>
      <p:pic>
        <p:nvPicPr>
          <p:cNvPr id="6" name="Picture 5">
            <a:extLst>
              <a:ext uri="{FF2B5EF4-FFF2-40B4-BE49-F238E27FC236}">
                <a16:creationId xmlns:a16="http://schemas.microsoft.com/office/drawing/2014/main" id="{2C2BE24D-AEE7-4645-B154-404F7DC43A6C}"/>
              </a:ext>
            </a:extLst>
          </p:cNvPr>
          <p:cNvPicPr>
            <a:picLocks noChangeAspect="1"/>
          </p:cNvPicPr>
          <p:nvPr/>
        </p:nvPicPr>
        <p:blipFill>
          <a:blip r:embed="rId3"/>
          <a:stretch>
            <a:fillRect/>
          </a:stretch>
        </p:blipFill>
        <p:spPr>
          <a:xfrm>
            <a:off x="2890451" y="3649132"/>
            <a:ext cx="6411096" cy="3096423"/>
          </a:xfrm>
          <a:prstGeom prst="rect">
            <a:avLst/>
          </a:prstGeom>
        </p:spPr>
      </p:pic>
    </p:spTree>
    <p:extLst>
      <p:ext uri="{BB962C8B-B14F-4D97-AF65-F5344CB8AC3E}">
        <p14:creationId xmlns:p14="http://schemas.microsoft.com/office/powerpoint/2010/main" val="11737280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8678C-62C0-4F3E-9CB7-0924FA6B1A25}"/>
              </a:ext>
            </a:extLst>
          </p:cNvPr>
          <p:cNvSpPr>
            <a:spLocks noGrp="1"/>
          </p:cNvSpPr>
          <p:nvPr>
            <p:ph type="title"/>
          </p:nvPr>
        </p:nvSpPr>
        <p:spPr>
          <a:xfrm>
            <a:off x="919119" y="247910"/>
            <a:ext cx="10353762" cy="970450"/>
          </a:xfrm>
        </p:spPr>
        <p:txBody>
          <a:bodyPr/>
          <a:lstStyle/>
          <a:p>
            <a:r>
              <a:rPr lang="en-US" b="1" dirty="0">
                <a:solidFill>
                  <a:srgbClr val="C9D1D9"/>
                </a:solidFill>
                <a:effectLst/>
                <a:latin typeface="Arial" panose="020B0604020202020204" pitchFamily="34" charset="0"/>
                <a:cs typeface="Arial" panose="020B0604020202020204" pitchFamily="34" charset="0"/>
              </a:rPr>
              <a:t>Differential Expression</a:t>
            </a:r>
            <a:endParaRPr lang="en-US"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844640BD-AFB5-40E6-AF35-E47D6BCF6F18}"/>
              </a:ext>
            </a:extLst>
          </p:cNvPr>
          <p:cNvPicPr>
            <a:picLocks noChangeAspect="1"/>
          </p:cNvPicPr>
          <p:nvPr/>
        </p:nvPicPr>
        <p:blipFill>
          <a:blip r:embed="rId2"/>
          <a:stretch>
            <a:fillRect/>
          </a:stretch>
        </p:blipFill>
        <p:spPr>
          <a:xfrm>
            <a:off x="2736214" y="1091360"/>
            <a:ext cx="6719571" cy="5639640"/>
          </a:xfrm>
          <a:prstGeom prst="rect">
            <a:avLst/>
          </a:prstGeom>
        </p:spPr>
      </p:pic>
    </p:spTree>
    <p:extLst>
      <p:ext uri="{BB962C8B-B14F-4D97-AF65-F5344CB8AC3E}">
        <p14:creationId xmlns:p14="http://schemas.microsoft.com/office/powerpoint/2010/main" val="39664025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8678C-62C0-4F3E-9CB7-0924FA6B1A25}"/>
              </a:ext>
            </a:extLst>
          </p:cNvPr>
          <p:cNvSpPr>
            <a:spLocks noGrp="1"/>
          </p:cNvSpPr>
          <p:nvPr>
            <p:ph type="title"/>
          </p:nvPr>
        </p:nvSpPr>
        <p:spPr>
          <a:xfrm>
            <a:off x="919119" y="247910"/>
            <a:ext cx="10353762" cy="970450"/>
          </a:xfrm>
        </p:spPr>
        <p:txBody>
          <a:bodyPr/>
          <a:lstStyle/>
          <a:p>
            <a:r>
              <a:rPr lang="en-US" b="1" dirty="0">
                <a:solidFill>
                  <a:srgbClr val="C9D1D9"/>
                </a:solidFill>
                <a:effectLst/>
                <a:latin typeface="Arial" panose="020B0604020202020204" pitchFamily="34" charset="0"/>
                <a:cs typeface="Arial" panose="020B0604020202020204" pitchFamily="34" charset="0"/>
              </a:rPr>
              <a:t>Size-Specific Effects</a:t>
            </a:r>
            <a:endParaRPr lang="en-US" dirty="0">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04171BB1-C980-42CA-95C8-3072E5308258}"/>
              </a:ext>
            </a:extLst>
          </p:cNvPr>
          <p:cNvPicPr>
            <a:picLocks noChangeAspect="1"/>
          </p:cNvPicPr>
          <p:nvPr/>
        </p:nvPicPr>
        <p:blipFill>
          <a:blip r:embed="rId2"/>
          <a:stretch>
            <a:fillRect/>
          </a:stretch>
        </p:blipFill>
        <p:spPr>
          <a:xfrm>
            <a:off x="6477000" y="1120664"/>
            <a:ext cx="5612382" cy="5226767"/>
          </a:xfrm>
          <a:prstGeom prst="rect">
            <a:avLst/>
          </a:prstGeom>
        </p:spPr>
      </p:pic>
      <p:pic>
        <p:nvPicPr>
          <p:cNvPr id="12" name="Picture 11">
            <a:extLst>
              <a:ext uri="{FF2B5EF4-FFF2-40B4-BE49-F238E27FC236}">
                <a16:creationId xmlns:a16="http://schemas.microsoft.com/office/drawing/2014/main" id="{E60BA441-6928-4646-9B4D-12E630AE0D7D}"/>
              </a:ext>
            </a:extLst>
          </p:cNvPr>
          <p:cNvPicPr>
            <a:picLocks noChangeAspect="1"/>
          </p:cNvPicPr>
          <p:nvPr/>
        </p:nvPicPr>
        <p:blipFill>
          <a:blip r:embed="rId3"/>
          <a:stretch>
            <a:fillRect/>
          </a:stretch>
        </p:blipFill>
        <p:spPr>
          <a:xfrm>
            <a:off x="102618" y="1256880"/>
            <a:ext cx="6219697" cy="4344240"/>
          </a:xfrm>
          <a:prstGeom prst="rect">
            <a:avLst/>
          </a:prstGeom>
        </p:spPr>
      </p:pic>
    </p:spTree>
    <p:extLst>
      <p:ext uri="{BB962C8B-B14F-4D97-AF65-F5344CB8AC3E}">
        <p14:creationId xmlns:p14="http://schemas.microsoft.com/office/powerpoint/2010/main" val="15561664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8678C-62C0-4F3E-9CB7-0924FA6B1A25}"/>
              </a:ext>
            </a:extLst>
          </p:cNvPr>
          <p:cNvSpPr>
            <a:spLocks noGrp="1"/>
          </p:cNvSpPr>
          <p:nvPr>
            <p:ph type="title"/>
          </p:nvPr>
        </p:nvSpPr>
        <p:spPr>
          <a:xfrm>
            <a:off x="919119" y="-228340"/>
            <a:ext cx="10353762" cy="970450"/>
          </a:xfrm>
        </p:spPr>
        <p:txBody>
          <a:bodyPr/>
          <a:lstStyle/>
          <a:p>
            <a:r>
              <a:rPr lang="en-US" b="1" dirty="0">
                <a:solidFill>
                  <a:srgbClr val="C9D1D9"/>
                </a:solidFill>
                <a:effectLst/>
                <a:latin typeface="Arial" panose="020B0604020202020204" pitchFamily="34" charset="0"/>
                <a:cs typeface="Arial" panose="020B0604020202020204" pitchFamily="34" charset="0"/>
              </a:rPr>
              <a:t>Size-Specific Effects</a:t>
            </a:r>
            <a:endParaRPr lang="en-US"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541F3FA0-C4E6-4EFC-8CA3-A2D68A098529}"/>
              </a:ext>
            </a:extLst>
          </p:cNvPr>
          <p:cNvPicPr>
            <a:picLocks noChangeAspect="1"/>
          </p:cNvPicPr>
          <p:nvPr/>
        </p:nvPicPr>
        <p:blipFill>
          <a:blip r:embed="rId2"/>
          <a:stretch>
            <a:fillRect/>
          </a:stretch>
        </p:blipFill>
        <p:spPr>
          <a:xfrm>
            <a:off x="261592" y="821267"/>
            <a:ext cx="5367683" cy="5672665"/>
          </a:xfrm>
          <a:prstGeom prst="rect">
            <a:avLst/>
          </a:prstGeom>
        </p:spPr>
      </p:pic>
      <p:sp>
        <p:nvSpPr>
          <p:cNvPr id="7" name="TextBox 6">
            <a:extLst>
              <a:ext uri="{FF2B5EF4-FFF2-40B4-BE49-F238E27FC236}">
                <a16:creationId xmlns:a16="http://schemas.microsoft.com/office/drawing/2014/main" id="{770BAEC5-EA74-4CE1-8B11-7A7DBCB6A0DB}"/>
              </a:ext>
            </a:extLst>
          </p:cNvPr>
          <p:cNvSpPr txBox="1"/>
          <p:nvPr/>
        </p:nvSpPr>
        <p:spPr>
          <a:xfrm>
            <a:off x="6096000" y="2218462"/>
            <a:ext cx="5634383" cy="3139321"/>
          </a:xfrm>
          <a:prstGeom prst="rect">
            <a:avLst/>
          </a:prstGeom>
          <a:noFill/>
        </p:spPr>
        <p:txBody>
          <a:bodyPr wrap="square">
            <a:spAutoFit/>
          </a:bodyPr>
          <a:lstStyle/>
          <a:p>
            <a:pPr algn="just"/>
            <a:r>
              <a:rPr lang="en-US" dirty="0">
                <a:solidFill>
                  <a:srgbClr val="C9D1D9"/>
                </a:solidFill>
                <a:effectLst/>
                <a:latin typeface="Arial" panose="020B0604020202020204" pitchFamily="34" charset="0"/>
                <a:cs typeface="Arial" panose="020B0604020202020204" pitchFamily="34" charset="0"/>
              </a:rPr>
              <a:t>Both conditions produce strong responses, but the 200 nm exposure generates the largest overall change. The 40 nm shows a more selective pattern. This suggests that particle size influences how immune cells process the material and which pathways are activated. It is also apparent that while most DEGs are shared acros</a:t>
            </a:r>
            <a:r>
              <a:rPr lang="en-US" dirty="0">
                <a:solidFill>
                  <a:srgbClr val="C9D1D9"/>
                </a:solidFill>
                <a:latin typeface="Arial" panose="020B0604020202020204" pitchFamily="34" charset="0"/>
                <a:cs typeface="Arial" panose="020B0604020202020204" pitchFamily="34" charset="0"/>
              </a:rPr>
              <a:t>s both the 200 nm and 40 nm samples, they also affect a lot of different DEGs. The mixture ends up lessening some effects of the individual samples but also ends up resulting in some unique DEGs. </a:t>
            </a:r>
            <a:endParaRPr lang="en-US" dirty="0">
              <a:solidFill>
                <a:srgbClr val="C9D1D9"/>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681525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8678C-62C0-4F3E-9CB7-0924FA6B1A25}"/>
              </a:ext>
            </a:extLst>
          </p:cNvPr>
          <p:cNvSpPr>
            <a:spLocks noGrp="1"/>
          </p:cNvSpPr>
          <p:nvPr>
            <p:ph type="title"/>
          </p:nvPr>
        </p:nvSpPr>
        <p:spPr>
          <a:xfrm>
            <a:off x="919119" y="66935"/>
            <a:ext cx="10353762" cy="970450"/>
          </a:xfrm>
        </p:spPr>
        <p:txBody>
          <a:bodyPr/>
          <a:lstStyle/>
          <a:p>
            <a:r>
              <a:rPr lang="en-US" b="1" dirty="0">
                <a:solidFill>
                  <a:srgbClr val="C9D1D9"/>
                </a:solidFill>
                <a:effectLst/>
                <a:latin typeface="Arial" panose="020B0604020202020204" pitchFamily="34" charset="0"/>
                <a:cs typeface="Arial" panose="020B0604020202020204" pitchFamily="34" charset="0"/>
              </a:rPr>
              <a:t>Size-Specific Effects</a:t>
            </a:r>
            <a:endParaRPr lang="en-US" dirty="0">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155735D8-C19B-4716-B320-37D5BB436157}"/>
              </a:ext>
            </a:extLst>
          </p:cNvPr>
          <p:cNvPicPr>
            <a:picLocks noChangeAspect="1"/>
          </p:cNvPicPr>
          <p:nvPr/>
        </p:nvPicPr>
        <p:blipFill>
          <a:blip r:embed="rId2"/>
          <a:stretch>
            <a:fillRect/>
          </a:stretch>
        </p:blipFill>
        <p:spPr>
          <a:xfrm>
            <a:off x="204744" y="1037385"/>
            <a:ext cx="5385100" cy="5391990"/>
          </a:xfrm>
          <a:prstGeom prst="rect">
            <a:avLst/>
          </a:prstGeom>
        </p:spPr>
      </p:pic>
      <p:sp>
        <p:nvSpPr>
          <p:cNvPr id="7" name="TextBox 6">
            <a:extLst>
              <a:ext uri="{FF2B5EF4-FFF2-40B4-BE49-F238E27FC236}">
                <a16:creationId xmlns:a16="http://schemas.microsoft.com/office/drawing/2014/main" id="{770BAEC5-EA74-4CE1-8B11-7A7DBCB6A0DB}"/>
              </a:ext>
            </a:extLst>
          </p:cNvPr>
          <p:cNvSpPr txBox="1"/>
          <p:nvPr/>
        </p:nvSpPr>
        <p:spPr>
          <a:xfrm>
            <a:off x="5972174" y="2547634"/>
            <a:ext cx="5610225" cy="1477328"/>
          </a:xfrm>
          <a:prstGeom prst="rect">
            <a:avLst/>
          </a:prstGeom>
          <a:noFill/>
        </p:spPr>
        <p:txBody>
          <a:bodyPr wrap="square">
            <a:spAutoFit/>
          </a:bodyPr>
          <a:lstStyle/>
          <a:p>
            <a:pPr algn="just"/>
            <a:r>
              <a:rPr lang="en-US" dirty="0">
                <a:solidFill>
                  <a:srgbClr val="C9D1D9"/>
                </a:solidFill>
                <a:effectLst/>
                <a:latin typeface="Arial" panose="020B0604020202020204" pitchFamily="34" charset="0"/>
                <a:cs typeface="Arial" panose="020B0604020202020204" pitchFamily="34" charset="0"/>
              </a:rPr>
              <a:t>The mixture effect analysis shows that the combination of the 40 nm and 200 nm particles has a more complex effect than just adding the effects of them both. It results in a more complex immune response, and alters levels in a non-linear way.</a:t>
            </a:r>
          </a:p>
        </p:txBody>
      </p:sp>
    </p:spTree>
    <p:extLst>
      <p:ext uri="{BB962C8B-B14F-4D97-AF65-F5344CB8AC3E}">
        <p14:creationId xmlns:p14="http://schemas.microsoft.com/office/powerpoint/2010/main" val="15898320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8678C-62C0-4F3E-9CB7-0924FA6B1A25}"/>
              </a:ext>
            </a:extLst>
          </p:cNvPr>
          <p:cNvSpPr>
            <a:spLocks noGrp="1"/>
          </p:cNvSpPr>
          <p:nvPr>
            <p:ph type="title"/>
          </p:nvPr>
        </p:nvSpPr>
        <p:spPr>
          <a:xfrm>
            <a:off x="919119" y="247910"/>
            <a:ext cx="10353762" cy="970450"/>
          </a:xfrm>
        </p:spPr>
        <p:txBody>
          <a:bodyPr/>
          <a:lstStyle/>
          <a:p>
            <a:r>
              <a:rPr lang="en-US" b="1" dirty="0">
                <a:solidFill>
                  <a:srgbClr val="C9D1D9"/>
                </a:solidFill>
                <a:effectLst/>
                <a:latin typeface="Arial" panose="020B0604020202020204" pitchFamily="34" charset="0"/>
                <a:cs typeface="Arial" panose="020B0604020202020204" pitchFamily="34" charset="0"/>
              </a:rPr>
              <a:t>Size-Specific Effects</a:t>
            </a:r>
            <a:endParaRPr lang="en-US"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61595179-B4B4-45FF-AFA5-BAB57F15CBF3}"/>
              </a:ext>
            </a:extLst>
          </p:cNvPr>
          <p:cNvPicPr>
            <a:picLocks noChangeAspect="1"/>
          </p:cNvPicPr>
          <p:nvPr/>
        </p:nvPicPr>
        <p:blipFill rotWithShape="1">
          <a:blip r:embed="rId2"/>
          <a:srcRect b="50000"/>
          <a:stretch/>
        </p:blipFill>
        <p:spPr>
          <a:xfrm>
            <a:off x="528849" y="1218360"/>
            <a:ext cx="5223422" cy="5300973"/>
          </a:xfrm>
          <a:prstGeom prst="rect">
            <a:avLst/>
          </a:prstGeom>
        </p:spPr>
      </p:pic>
      <p:sp>
        <p:nvSpPr>
          <p:cNvPr id="9" name="TextBox 8">
            <a:extLst>
              <a:ext uri="{FF2B5EF4-FFF2-40B4-BE49-F238E27FC236}">
                <a16:creationId xmlns:a16="http://schemas.microsoft.com/office/drawing/2014/main" id="{B0F83B95-A9F4-4BFB-953C-20879600AD97}"/>
              </a:ext>
            </a:extLst>
          </p:cNvPr>
          <p:cNvSpPr txBox="1"/>
          <p:nvPr/>
        </p:nvSpPr>
        <p:spPr>
          <a:xfrm>
            <a:off x="6096000" y="2160686"/>
            <a:ext cx="5610225" cy="3416320"/>
          </a:xfrm>
          <a:prstGeom prst="rect">
            <a:avLst/>
          </a:prstGeom>
          <a:noFill/>
        </p:spPr>
        <p:txBody>
          <a:bodyPr wrap="square">
            <a:spAutoFit/>
          </a:bodyPr>
          <a:lstStyle/>
          <a:p>
            <a:pPr algn="just"/>
            <a:r>
              <a:rPr lang="en-US" dirty="0">
                <a:solidFill>
                  <a:srgbClr val="C9D1D9"/>
                </a:solidFill>
                <a:effectLst/>
                <a:latin typeface="Arial" panose="020B0604020202020204" pitchFamily="34" charset="0"/>
                <a:cs typeface="Arial" panose="020B0604020202020204" pitchFamily="34" charset="0"/>
              </a:rPr>
              <a:t>As the monocyte and macrophage group affects the ROS stress and inflammation the most, and the 200 nm group has a significant effect on its number, a raise in both is apparent in the 200 nm sample. The 40 nm samples also shows an effect on both values, while the mixture interestingly shows a lesser effect than both.</a:t>
            </a:r>
            <a:endParaRPr lang="en-US" dirty="0">
              <a:solidFill>
                <a:srgbClr val="C9D1D9"/>
              </a:solidFill>
              <a:latin typeface="Arial" panose="020B0604020202020204" pitchFamily="34" charset="0"/>
              <a:cs typeface="Arial" panose="020B0604020202020204" pitchFamily="34" charset="0"/>
            </a:endParaRPr>
          </a:p>
          <a:p>
            <a:pPr algn="just"/>
            <a:endParaRPr lang="en-US" dirty="0">
              <a:solidFill>
                <a:srgbClr val="C9D1D9"/>
              </a:solidFill>
              <a:effectLst/>
              <a:latin typeface="Arial" panose="020B0604020202020204" pitchFamily="34" charset="0"/>
              <a:cs typeface="Arial" panose="020B0604020202020204" pitchFamily="34" charset="0"/>
            </a:endParaRPr>
          </a:p>
          <a:p>
            <a:pPr algn="just"/>
            <a:r>
              <a:rPr lang="en-US" dirty="0">
                <a:solidFill>
                  <a:srgbClr val="C9D1D9"/>
                </a:solidFill>
                <a:latin typeface="Arial" panose="020B0604020202020204" pitchFamily="34" charset="0"/>
                <a:cs typeface="Arial" panose="020B0604020202020204" pitchFamily="34" charset="0"/>
              </a:rPr>
              <a:t>A significant effect on stress and inflammation is expected, since we are analyzing immune cells which are highly sensitive to inflammatory activation and stress.</a:t>
            </a:r>
            <a:endParaRPr lang="en-US" dirty="0">
              <a:solidFill>
                <a:srgbClr val="C9D1D9"/>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960591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8678C-62C0-4F3E-9CB7-0924FA6B1A25}"/>
              </a:ext>
            </a:extLst>
          </p:cNvPr>
          <p:cNvSpPr>
            <a:spLocks noGrp="1"/>
          </p:cNvSpPr>
          <p:nvPr>
            <p:ph type="title"/>
          </p:nvPr>
        </p:nvSpPr>
        <p:spPr>
          <a:xfrm>
            <a:off x="919119" y="247910"/>
            <a:ext cx="10353762" cy="970450"/>
          </a:xfrm>
        </p:spPr>
        <p:txBody>
          <a:bodyPr/>
          <a:lstStyle/>
          <a:p>
            <a:r>
              <a:rPr lang="en-US" b="1" dirty="0">
                <a:solidFill>
                  <a:srgbClr val="C9D1D9"/>
                </a:solidFill>
                <a:effectLst/>
                <a:latin typeface="Arial" panose="020B0604020202020204" pitchFamily="34" charset="0"/>
                <a:cs typeface="Arial" panose="020B0604020202020204" pitchFamily="34" charset="0"/>
              </a:rPr>
              <a:t>Size-Specific Effects</a:t>
            </a:r>
            <a:endParaRPr lang="en-US"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62527A97-1B8E-40AE-8A93-CAAD1FDEC466}"/>
              </a:ext>
            </a:extLst>
          </p:cNvPr>
          <p:cNvPicPr>
            <a:picLocks noChangeAspect="1"/>
          </p:cNvPicPr>
          <p:nvPr/>
        </p:nvPicPr>
        <p:blipFill rotWithShape="1">
          <a:blip r:embed="rId2"/>
          <a:srcRect t="50000"/>
          <a:stretch/>
        </p:blipFill>
        <p:spPr>
          <a:xfrm>
            <a:off x="485775" y="1218360"/>
            <a:ext cx="5223420" cy="5300973"/>
          </a:xfrm>
          <a:prstGeom prst="rect">
            <a:avLst/>
          </a:prstGeom>
        </p:spPr>
      </p:pic>
      <p:sp>
        <p:nvSpPr>
          <p:cNvPr id="6" name="TextBox 5">
            <a:extLst>
              <a:ext uri="{FF2B5EF4-FFF2-40B4-BE49-F238E27FC236}">
                <a16:creationId xmlns:a16="http://schemas.microsoft.com/office/drawing/2014/main" id="{CB5BA41B-140D-4751-B31A-10CDCBBCAB5F}"/>
              </a:ext>
            </a:extLst>
          </p:cNvPr>
          <p:cNvSpPr txBox="1"/>
          <p:nvPr/>
        </p:nvSpPr>
        <p:spPr>
          <a:xfrm>
            <a:off x="6096000" y="2551837"/>
            <a:ext cx="5610225" cy="1754326"/>
          </a:xfrm>
          <a:prstGeom prst="rect">
            <a:avLst/>
          </a:prstGeom>
          <a:noFill/>
        </p:spPr>
        <p:txBody>
          <a:bodyPr wrap="square">
            <a:spAutoFit/>
          </a:bodyPr>
          <a:lstStyle/>
          <a:p>
            <a:pPr algn="just"/>
            <a:r>
              <a:rPr lang="en-US" dirty="0">
                <a:solidFill>
                  <a:srgbClr val="C9D1D9"/>
                </a:solidFill>
                <a:latin typeface="Arial" panose="020B0604020202020204" pitchFamily="34" charset="0"/>
                <a:cs typeface="Arial" panose="020B0604020202020204" pitchFamily="34" charset="0"/>
              </a:rPr>
              <a:t>Lysosomal autophagy and apoptosis stress scores are less affected, but show a higher effect in the 40 nm sample, and the mixture itself.</a:t>
            </a:r>
          </a:p>
          <a:p>
            <a:pPr algn="just"/>
            <a:endParaRPr lang="en-US" dirty="0">
              <a:solidFill>
                <a:srgbClr val="C9D1D9"/>
              </a:solidFill>
              <a:effectLst/>
              <a:latin typeface="Arial" panose="020B0604020202020204" pitchFamily="34" charset="0"/>
              <a:cs typeface="Arial" panose="020B0604020202020204" pitchFamily="34" charset="0"/>
            </a:endParaRPr>
          </a:p>
          <a:p>
            <a:pPr algn="just"/>
            <a:r>
              <a:rPr lang="en-US" dirty="0">
                <a:solidFill>
                  <a:srgbClr val="C9D1D9"/>
                </a:solidFill>
                <a:latin typeface="Arial" panose="020B0604020202020204" pitchFamily="34" charset="0"/>
                <a:cs typeface="Arial" panose="020B0604020202020204" pitchFamily="34" charset="0"/>
              </a:rPr>
              <a:t>This increase is also expected due to the immune cells sensitivity to inflammatory activation and stress.</a:t>
            </a:r>
            <a:endParaRPr lang="en-US" dirty="0">
              <a:solidFill>
                <a:srgbClr val="C9D1D9"/>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3019196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E8B826"/>
      </a:accent1>
      <a:accent2>
        <a:srgbClr val="E2CA72"/>
      </a:accent2>
      <a:accent3>
        <a:srgbClr val="BD723B"/>
      </a:accent3>
      <a:accent4>
        <a:srgbClr val="AE9376"/>
      </a:accent4>
      <a:accent5>
        <a:srgbClr val="A77F41"/>
      </a:accent5>
      <a:accent6>
        <a:srgbClr val="A1AE79"/>
      </a:accent6>
      <a:hlink>
        <a:srgbClr val="F1D06A"/>
      </a:hlink>
      <a:folHlink>
        <a:srgbClr val="EDDCA8"/>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D5CBAF11-69B7-47EA-BC01-41F77058C2A9}"/>
    </a:ext>
  </a:extLst>
</a:theme>
</file>

<file path=docProps/app.xml><?xml version="1.0" encoding="utf-8"?>
<Properties xmlns="http://schemas.openxmlformats.org/officeDocument/2006/extended-properties" xmlns:vt="http://schemas.openxmlformats.org/officeDocument/2006/docPropsVTypes">
  <Template>TM04033929[[fn=Slate]]</Template>
  <TotalTime>1313</TotalTime>
  <Words>815</Words>
  <Application>Microsoft Office PowerPoint</Application>
  <PresentationFormat>Widescreen</PresentationFormat>
  <Paragraphs>63</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Calisto MT</vt:lpstr>
      <vt:lpstr>Wingdings 2</vt:lpstr>
      <vt:lpstr>Slate</vt:lpstr>
      <vt:lpstr>Single-Cell Analysis of Immune Response to Nanoplastic Particles </vt:lpstr>
      <vt:lpstr>Project propositions</vt:lpstr>
      <vt:lpstr>QC &amp; Preprocessing</vt:lpstr>
      <vt:lpstr>QC &amp; Preprocessing</vt:lpstr>
      <vt:lpstr>Integration &amp; clustering</vt:lpstr>
      <vt:lpstr>Integration &amp; clustering</vt:lpstr>
      <vt:lpstr>Cell type annotation</vt:lpstr>
      <vt:lpstr>Cell type annotation</vt:lpstr>
      <vt:lpstr>Cell type annotation</vt:lpstr>
      <vt:lpstr>Composition Analysis</vt:lpstr>
      <vt:lpstr>Composition Analysis</vt:lpstr>
      <vt:lpstr>Differential Expression</vt:lpstr>
      <vt:lpstr>Differential Expression</vt:lpstr>
      <vt:lpstr>Size-Specific Effects</vt:lpstr>
      <vt:lpstr>Size-Specific Effects</vt:lpstr>
      <vt:lpstr>Size-Specific Effects</vt:lpstr>
      <vt:lpstr>Size-Specific Effects</vt:lpstr>
      <vt:lpstr>Size-Specific Effects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Single-Cell Analysis of Immune Response to Nanoplastic Particles</dc:title>
  <dc:creator>danilo ristic</dc:creator>
  <cp:lastModifiedBy>danilo ristic</cp:lastModifiedBy>
  <cp:revision>27</cp:revision>
  <dcterms:created xsi:type="dcterms:W3CDTF">2026-08-30T08:43:05Z</dcterms:created>
  <dcterms:modified xsi:type="dcterms:W3CDTF">2026-09-01T15:48:02Z</dcterms:modified>
</cp:coreProperties>
</file>